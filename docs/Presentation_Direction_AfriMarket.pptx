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e3d1309-19b1-626c-6c2c-5947784d1f22}">
          <p14:sldIdLst>
            <p14:sldId id="256"/>
            <p14:sldId id="257"/>
            <p14:sldId id="258"/>
          </p14:sldIdLst>
        </p14:section>
        <p14:section name="Diagnostic" id="{8027ce6d-6bd1-a9e1-5f62-c7ff2d7399f8}">
          <p14:sldIdLst>
            <p14:sldId id="259"/>
            <p14:sldId id="260"/>
            <p14:sldId id="261"/>
            <p14:sldId id="262"/>
            <p14:sldId id="263"/>
            <p14:sldId id="264"/>
            <p14:sldId id="265"/>
            <p14:sldId id="266"/>
            <p14:sldId id="267"/>
            <p14:sldId id="268"/>
          </p14:sldIdLst>
        </p14:section>
        <p14:section name="Plan d'action" id="{a55a6d47-0879-2ac0-a1de-df499650df3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Anomalies détectées dans le fichier brut (nombre de lignes)</a:t>
            </a:r>
          </a:p>
        </c:rich>
      </c:tx>
      <c:layout/>
      <c:overlay val="0"/>
    </c:title>
    <c:autoTitleDeleted val="0"/>
    <c:plotArea>
      <c:layout/>
      <c:barChart>
        <c:barDir val="bar"/>
        <c:grouping val="clustered"/>
        <c:varyColors val="0"/>
        <c:ser>
          <c:idx val="0"/>
          <c:order val="0"/>
          <c:tx>
            <c:strRef>
              <c:f>Sheet1!$B$1</c:f>
              <c:strCache>
                <c:ptCount val="1"/>
                <c:pt idx="0">
                  <c:v>Lignes concernées</c:v>
                </c:pt>
              </c:strCache>
            </c:strRef>
          </c:tx>
          <c:spPr>
            <a:solidFill>
              <a:srgbClr val="8AA3BF"/>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8AA3BF"/>
              </a:solidFill>
              <a:effectLst/>
            </c:spPr>
          </c:dPt>
          <c:dPt>
            <c:idx val="1"/>
            <c:invertIfNegative val="0"/>
            <c:bubble3D val="0"/>
            <c:spPr>
              <a:solidFill>
                <a:srgbClr val="8AA3BF"/>
              </a:solidFill>
              <a:effectLst/>
            </c:spPr>
          </c:dPt>
          <c:dPt>
            <c:idx val="2"/>
            <c:invertIfNegative val="0"/>
            <c:bubble3D val="0"/>
            <c:spPr>
              <a:solidFill>
                <a:srgbClr val="8AA3BF"/>
              </a:solidFill>
              <a:effectLst/>
            </c:spPr>
          </c:dPt>
          <c:dPt>
            <c:idx val="3"/>
            <c:invertIfNegative val="0"/>
            <c:bubble3D val="0"/>
            <c:spPr>
              <a:solidFill>
                <a:srgbClr val="8AA3BF"/>
              </a:solidFill>
              <a:effectLst/>
            </c:spPr>
          </c:dPt>
          <c:dPt>
            <c:idx val="4"/>
            <c:invertIfNegative val="0"/>
            <c:bubble3D val="0"/>
            <c:spPr>
              <a:solidFill>
                <a:srgbClr val="8AA3BF"/>
              </a:solidFill>
              <a:effectLst/>
            </c:spPr>
          </c:dPt>
          <c:dPt>
            <c:idx val="5"/>
            <c:invertIfNegative val="0"/>
            <c:bubble3D val="0"/>
            <c:spPr>
              <a:solidFill>
                <a:srgbClr val="B42318"/>
              </a:solidFill>
              <a:effectLst/>
            </c:spPr>
          </c:dPt>
          <c:dPt>
            <c:idx val="6"/>
            <c:invertIfNegative val="0"/>
            <c:bubble3D val="0"/>
            <c:spPr>
              <a:solidFill>
                <a:srgbClr val="8AA3BF"/>
              </a:solidFill>
              <a:effectLst/>
            </c:spPr>
          </c:dPt>
          <c:cat>
            <c:multiLvlStrRef>
              <c:f>Sheet1!$A$2:$A$8</c:f>
              <c:multiLvlStrCache>
                <c:ptCount val="7"/>
                <c:lvl>
                  <c:pt idx="0">
                    <c:v>Statuts non standard</c:v>
                  </c:pt>
                  <c:pt idx="1">
                    <c:v>Prix négatifs</c:v>
                  </c:pt>
                  <c:pt idx="2">
                    <c:v>Quantités à 0</c:v>
                  </c:pt>
                  <c:pt idx="3">
                    <c:v>Remises négatives</c:v>
                  </c:pt>
                  <c:pt idx="4">
                    <c:v>« Kinshassa »</c:v>
                  </c:pt>
                  <c:pt idx="5">
                    <c:v>Catégorie contredite par le produit</c:v>
                  </c:pt>
                  <c:pt idx="6">
                    <c:v>Doublons exacts</c:v>
                  </c:pt>
                </c:lvl>
              </c:multiLvlStrCache>
            </c:multiLvlStrRef>
          </c:cat>
          <c:val>
            <c:numRef>
              <c:f>Sheet1!$B$2:$B$8</c:f>
              <c:numCache>
                <c:formatCode>General</c:formatCode>
                <c:ptCount val="7"/>
                <c:pt idx="0">
                  <c:v>816</c:v>
                </c:pt>
                <c:pt idx="1">
                  <c:v>622</c:v>
                </c:pt>
                <c:pt idx="2">
                  <c:v>600</c:v>
                </c:pt>
                <c:pt idx="3">
                  <c:v>600</c:v>
                </c:pt>
                <c:pt idx="4">
                  <c:v>600</c:v>
                </c:pt>
                <c:pt idx="5">
                  <c:v>436</c:v>
                </c:pt>
                <c:pt idx="6">
                  <c:v>100</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100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CA net et profit net par mois (k UM)</a:t>
            </a:r>
          </a:p>
        </c:rich>
      </c:tx>
      <c:layout/>
      <c:overlay val="0"/>
    </c:title>
    <c:autoTitleDeleted val="0"/>
    <c:plotArea>
      <c:layout/>
      <c:barChart>
        <c:barDir val="col"/>
        <c:grouping val="clustered"/>
        <c:varyColors val="0"/>
        <c:ser>
          <c:idx val="0"/>
          <c:order val="0"/>
          <c:tx>
            <c:strRef>
              <c:f>Sheet1!$B$1</c:f>
              <c:strCache>
                <c:ptCount val="1"/>
                <c:pt idx="0">
                  <c:v>CA net (k UM)</c:v>
                </c:pt>
              </c:strCache>
            </c:strRef>
          </c:tx>
          <c:spPr>
            <a:solidFill>
              <a:srgbClr val="1F4E8C"/>
            </a:solidFill>
            <a:effectLst/>
          </c:spPr>
          <c:invertIfNegative val="0"/>
          <c:dLbls>
            <c:numFmt formatCode="#,##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Juil</c:v>
                  </c:pt>
                  <c:pt idx="1">
                    <c:v>Août</c:v>
                  </c:pt>
                  <c:pt idx="2">
                    <c:v>Sept</c:v>
                  </c:pt>
                  <c:pt idx="3">
                    <c:v>Oct</c:v>
                  </c:pt>
                  <c:pt idx="4">
                    <c:v>Nov</c:v>
                  </c:pt>
                  <c:pt idx="5">
                    <c:v>Déc</c:v>
                  </c:pt>
                </c:lvl>
              </c:multiLvlStrCache>
            </c:multiLvlStrRef>
          </c:cat>
          <c:val>
            <c:numRef>
              <c:f>Sheet1!$B$2:$B$7</c:f>
              <c:numCache>
                <c:formatCode>General</c:formatCode>
                <c:ptCount val="6"/>
                <c:pt idx="0">
                  <c:v>347</c:v>
                </c:pt>
                <c:pt idx="1">
                  <c:v>369</c:v>
                </c:pt>
                <c:pt idx="2">
                  <c:v>344</c:v>
                </c:pt>
                <c:pt idx="3">
                  <c:v>374</c:v>
                </c:pt>
                <c:pt idx="4">
                  <c:v>336</c:v>
                </c:pt>
                <c:pt idx="5">
                  <c:v>413</c:v>
                </c:pt>
              </c:numCache>
            </c:numRef>
          </c:val>
        </c:ser>
        <c:dLbls>
          <c:numFmt formatCode="#,##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Profit net (k UM)</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1" i="0" strike="noStrike" sz="1200" u="none">
                    <a:solidFill>
                      <a:srgbClr val="FFFFFF"/>
                    </a:solidFill>
                    <a:latin typeface="+mn-lt"/>
                  </a:defRPr>
                </a:pPr>
              </a:p>
            </c:txPr>
            <c:dLblPos val="t"/>
            <c:showLegendKey val="0"/>
            <c:showVal val="1"/>
            <c:showCatName val="0"/>
            <c:showSerName val="0"/>
            <c:showPercent val="0"/>
            <c:showBubbleSize val="0"/>
            <c:showLeaderLines val="0"/>
          </c:dLbls>
          <c:marker>
            <c:symbol val="circle"/>
            <c:size val="9"/>
            <c:spPr>
              <a:solidFill>
                <a:srgbClr val="EB6834"/>
              </a:solidFill>
              <a:ln w="9525" cap="flat">
                <a:solidFill>
                  <a:srgbClr val="EB6834"/>
                </a:solidFill>
                <a:prstDash val="solid"/>
                <a:round/>
              </a:ln>
              <a:effectLst/>
            </c:spPr>
          </c:marker>
          <c:cat>
            <c:multiLvlStrRef>
              <c:f>Sheet1!$A$2:$A$7</c:f>
              <c:multiLvlStrCache>
                <c:ptCount val="6"/>
                <c:lvl>
                  <c:pt idx="0">
                    <c:v>Juil</c:v>
                  </c:pt>
                  <c:pt idx="1">
                    <c:v>Août</c:v>
                  </c:pt>
                  <c:pt idx="2">
                    <c:v>Sept</c:v>
                  </c:pt>
                  <c:pt idx="3">
                    <c:v>Oct</c:v>
                  </c:pt>
                  <c:pt idx="4">
                    <c:v>Nov</c:v>
                  </c:pt>
                  <c:pt idx="5">
                    <c:v>Déc</c:v>
                  </c:pt>
                </c:lvl>
              </c:multiLvlStrCache>
            </c:multiLvlStrRef>
          </c:cat>
          <c:val>
            <c:numRef>
              <c:f>Sheet1!$C$2:$C$7</c:f>
              <c:numCache>
                <c:formatCode>General</c:formatCode>
                <c:ptCount val="6"/>
                <c:pt idx="0">
                  <c:v>71</c:v>
                </c:pt>
                <c:pt idx="1">
                  <c:v>77</c:v>
                </c:pt>
                <c:pt idx="2">
                  <c:v>70</c:v>
                </c:pt>
                <c:pt idx="3">
                  <c:v>77</c:v>
                </c:pt>
                <c:pt idx="4">
                  <c:v>74</c:v>
                </c:pt>
                <c:pt idx="5">
                  <c:v>92</c:v>
                </c:pt>
              </c:numCache>
            </c:numRef>
          </c:val>
          <c:smooth val="0"/>
        </c:ser>
        <c:dLbls>
          <c:numFmt formatCode="#,##0" sourceLinked="0"/>
          <c:txPr>
            <a:bodyPr/>
            <a:lstStyle/>
            <a:p>
              <a:pPr>
                <a:defRPr b="1" i="0" strike="noStrike" sz="1200" u="none">
                  <a:solidFill>
                    <a:srgbClr val="FFFFF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45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6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De la vente facturée au profit net (k UM)</a:t>
            </a:r>
          </a:p>
        </c:rich>
      </c:tx>
      <c:layout/>
      <c:overlay val="0"/>
    </c:title>
    <c:autoTitleDeleted val="0"/>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cat>
            <c:multiLvlStrRef>
              <c:f>Sheet1!$A$2:$A$10</c:f>
              <c:multiLvlStrCache>
                <c:ptCount val="9"/>
                <c:lvl>
                  <c:pt idx="0">
                    <c:v>CA facturé
2 552 k</c:v>
                  </c:pt>
                  <c:pt idx="1">
                    <c:v>Annulations
−50 k</c:v>
                  </c:pt>
                  <c:pt idx="2">
                    <c:v>Retours
−319 k</c:v>
                  </c:pt>
                  <c:pt idx="3">
                    <c:v>CA net
2 183 k</c:v>
                  </c:pt>
                  <c:pt idx="4">
                    <c:v>Coût d'achat
−1 593 k</c:v>
                  </c:pt>
                  <c:pt idx="5">
                    <c:v>Marge brute
590 k</c:v>
                  </c:pt>
                  <c:pt idx="6">
                    <c:v>Livraison
−60 k</c:v>
                  </c:pt>
                  <c:pt idx="7">
                    <c:v>Marketing
−70 k</c:v>
                  </c:pt>
                  <c:pt idx="8">
                    <c:v>Profit net
461 k</c:v>
                  </c:pt>
                </c:lvl>
              </c:multiLvlStrCache>
            </c:multiLvlStrRef>
          </c:cat>
          <c:val>
            <c:numRef>
              <c:f>Sheet1!$B$2:$B$10</c:f>
              <c:numCache>
                <c:formatCode>General</c:formatCode>
                <c:ptCount val="9"/>
                <c:pt idx="0">
                  <c:v>0</c:v>
                </c:pt>
                <c:pt idx="1">
                  <c:v>2501.9</c:v>
                </c:pt>
                <c:pt idx="2">
                  <c:v>2183.2</c:v>
                </c:pt>
                <c:pt idx="3">
                  <c:v>0</c:v>
                </c:pt>
                <c:pt idx="4">
                  <c:v>590.3</c:v>
                </c:pt>
                <c:pt idx="5">
                  <c:v>0</c:v>
                </c:pt>
                <c:pt idx="6">
                  <c:v>530.3</c:v>
                </c:pt>
                <c:pt idx="7">
                  <c:v>460.8</c:v>
                </c:pt>
                <c:pt idx="8">
                  <c:v>0</c:v>
                </c:pt>
              </c:numCache>
            </c:numRef>
          </c:val>
        </c:ser>
        <c:ser>
          <c:idx val="1"/>
          <c:order val="1"/>
          <c:tx>
            <c:strRef>
              <c:f>Sheet1!$C$1</c:f>
              <c:strCache>
                <c:ptCount val="1"/>
                <c:pt idx="0">
                  <c:v>Total</c:v>
                </c:pt>
              </c:strCache>
            </c:strRef>
          </c:tx>
          <c:spPr>
            <a:solidFill>
              <a:srgbClr val="1F4E8C"/>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cat>
            <c:multiLvlStrRef>
              <c:f>Sheet1!$A$2:$A$10</c:f>
              <c:multiLvlStrCache>
                <c:ptCount val="9"/>
                <c:lvl>
                  <c:pt idx="0">
                    <c:v>CA facturé
2 552 k</c:v>
                  </c:pt>
                  <c:pt idx="1">
                    <c:v>Annulations
−50 k</c:v>
                  </c:pt>
                  <c:pt idx="2">
                    <c:v>Retours
−319 k</c:v>
                  </c:pt>
                  <c:pt idx="3">
                    <c:v>CA net
2 183 k</c:v>
                  </c:pt>
                  <c:pt idx="4">
                    <c:v>Coût d'achat
−1 593 k</c:v>
                  </c:pt>
                  <c:pt idx="5">
                    <c:v>Marge brute
590 k</c:v>
                  </c:pt>
                  <c:pt idx="6">
                    <c:v>Livraison
−60 k</c:v>
                  </c:pt>
                  <c:pt idx="7">
                    <c:v>Marketing
−70 k</c:v>
                  </c:pt>
                  <c:pt idx="8">
                    <c:v>Profit net
461 k</c:v>
                  </c:pt>
                </c:lvl>
              </c:multiLvlStrCache>
            </c:multiLvlStrRef>
          </c:cat>
          <c:val>
            <c:numRef>
              <c:f>Sheet1!$C$2:$C$10</c:f>
              <c:numCache>
                <c:formatCode>General</c:formatCode>
                <c:ptCount val="9"/>
                <c:pt idx="0">
                  <c:v>2551.6</c:v>
                </c:pt>
                <c:pt idx="1">
                  <c:v>0</c:v>
                </c:pt>
                <c:pt idx="2">
                  <c:v>0</c:v>
                </c:pt>
                <c:pt idx="3">
                  <c:v>2183.2</c:v>
                </c:pt>
                <c:pt idx="4">
                  <c:v>0</c:v>
                </c:pt>
                <c:pt idx="5">
                  <c:v>590.3</c:v>
                </c:pt>
                <c:pt idx="6">
                  <c:v>0</c:v>
                </c:pt>
                <c:pt idx="7">
                  <c:v>0</c:v>
                </c:pt>
                <c:pt idx="8">
                  <c:v>460.8</c:v>
                </c:pt>
              </c:numCache>
            </c:numRef>
          </c:val>
        </c:ser>
        <c:ser>
          <c:idx val="2"/>
          <c:order val="2"/>
          <c:tx>
            <c:strRef>
              <c:f>Sheet1!$D$1</c:f>
              <c:strCache>
                <c:ptCount val="1"/>
                <c:pt idx="0">
                  <c:v>Perte</c:v>
                </c:pt>
              </c:strCache>
            </c:strRef>
          </c:tx>
          <c:spPr>
            <a:solidFill>
              <a:srgbClr val="B42318"/>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cat>
            <c:multiLvlStrRef>
              <c:f>Sheet1!$A$2:$A$10</c:f>
              <c:multiLvlStrCache>
                <c:ptCount val="9"/>
                <c:lvl>
                  <c:pt idx="0">
                    <c:v>CA facturé
2 552 k</c:v>
                  </c:pt>
                  <c:pt idx="1">
                    <c:v>Annulations
−50 k</c:v>
                  </c:pt>
                  <c:pt idx="2">
                    <c:v>Retours
−319 k</c:v>
                  </c:pt>
                  <c:pt idx="3">
                    <c:v>CA net
2 183 k</c:v>
                  </c:pt>
                  <c:pt idx="4">
                    <c:v>Coût d'achat
−1 593 k</c:v>
                  </c:pt>
                  <c:pt idx="5">
                    <c:v>Marge brute
590 k</c:v>
                  </c:pt>
                  <c:pt idx="6">
                    <c:v>Livraison
−60 k</c:v>
                  </c:pt>
                  <c:pt idx="7">
                    <c:v>Marketing
−70 k</c:v>
                  </c:pt>
                  <c:pt idx="8">
                    <c:v>Profit net
461 k</c:v>
                  </c:pt>
                </c:lvl>
              </c:multiLvlStrCache>
            </c:multiLvlStrRef>
          </c:cat>
          <c:val>
            <c:numRef>
              <c:f>Sheet1!$D$2:$D$10</c:f>
              <c:numCache>
                <c:formatCode>General</c:formatCode>
                <c:ptCount val="9"/>
                <c:pt idx="0">
                  <c:v>0</c:v>
                </c:pt>
                <c:pt idx="1">
                  <c:v>49.8</c:v>
                </c:pt>
                <c:pt idx="2">
                  <c:v>318.7</c:v>
                </c:pt>
                <c:pt idx="3">
                  <c:v>0</c:v>
                </c:pt>
                <c:pt idx="4">
                  <c:v>1592.9</c:v>
                </c:pt>
                <c:pt idx="5">
                  <c:v>0</c:v>
                </c:pt>
                <c:pt idx="6">
                  <c:v>60</c:v>
                </c:pt>
                <c:pt idx="7">
                  <c:v>69.5</c:v>
                </c:pt>
                <c:pt idx="8">
                  <c:v>0</c:v>
                </c:pt>
              </c:numCache>
            </c:numRef>
          </c:val>
        </c:ser>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Taux de retour par catégorie</a:t>
            </a:r>
          </a:p>
        </c:rich>
      </c:tx>
      <c:layout/>
      <c:overlay val="0"/>
    </c:title>
    <c:autoTitleDeleted val="0"/>
    <c:plotArea>
      <c:layout/>
      <c:barChart>
        <c:barDir val="col"/>
        <c:grouping val="clustered"/>
        <c:varyColors val="0"/>
        <c:ser>
          <c:idx val="0"/>
          <c:order val="0"/>
          <c:tx>
            <c:strRef>
              <c:f>Sheet1!$B$1</c:f>
              <c:strCache>
                <c:ptCount val="1"/>
                <c:pt idx="0">
                  <c:v>Taux de retour (%)</c:v>
                </c:pt>
              </c:strCache>
            </c:strRef>
          </c:tx>
          <c:spPr>
            <a:solidFill>
              <a:srgbClr val="B42318"/>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B42318"/>
              </a:solidFill>
              <a:effectLst/>
            </c:spPr>
          </c:dPt>
          <c:dPt>
            <c:idx val="1"/>
            <c:invertIfNegative val="0"/>
            <c:bubble3D val="0"/>
            <c:spPr>
              <a:solidFill>
                <a:srgbClr val="B9C2CC"/>
              </a:solidFill>
              <a:effectLst/>
            </c:spPr>
          </c:dPt>
          <c:dPt>
            <c:idx val="2"/>
            <c:invertIfNegative val="0"/>
            <c:bubble3D val="0"/>
            <c:spPr>
              <a:solidFill>
                <a:srgbClr val="B9C2CC"/>
              </a:solidFill>
              <a:effectLst/>
            </c:spPr>
          </c:dPt>
          <c:dPt>
            <c:idx val="3"/>
            <c:invertIfNegative val="0"/>
            <c:bubble3D val="0"/>
            <c:spPr>
              <a:solidFill>
                <a:srgbClr val="B9C2CC"/>
              </a:solidFill>
              <a:effectLst/>
            </c:spPr>
          </c:dPt>
          <c:cat>
            <c:multiLvlStrRef>
              <c:f>Sheet1!$A$2:$A$5</c:f>
              <c:multiLvlStrCache>
                <c:ptCount val="4"/>
                <c:lvl>
                  <c:pt idx="0">
                    <c:v>Électronique</c:v>
                  </c:pt>
                  <c:pt idx="1">
                    <c:v>Maison</c:v>
                  </c:pt>
                  <c:pt idx="2">
                    <c:v>Mode</c:v>
                  </c:pt>
                  <c:pt idx="3">
                    <c:v>Beauté</c:v>
                  </c:pt>
                </c:lvl>
              </c:multiLvlStrCache>
            </c:multiLvlStrRef>
          </c:cat>
          <c:val>
            <c:numRef>
              <c:f>Sheet1!$B$2:$B$5</c:f>
              <c:numCache>
                <c:formatCode>General</c:formatCode>
                <c:ptCount val="4"/>
                <c:pt idx="0">
                  <c:v>15.6</c:v>
                </c:pt>
                <c:pt idx="1">
                  <c:v>5</c:v>
                </c:pt>
                <c:pt idx="2">
                  <c:v>7.5</c:v>
                </c:pt>
                <c:pt idx="3">
                  <c:v>2.9</c:v>
                </c:pt>
              </c:numCache>
            </c:numRef>
          </c:val>
        </c:ser>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Profit net / CA par catégorie</a:t>
            </a:r>
          </a:p>
        </c:rich>
      </c:tx>
      <c:layout/>
      <c:overlay val="0"/>
    </c:title>
    <c:autoTitleDeleted val="0"/>
    <c:plotArea>
      <c:layout/>
      <c:barChart>
        <c:barDir val="col"/>
        <c:grouping val="clustered"/>
        <c:varyColors val="0"/>
        <c:ser>
          <c:idx val="0"/>
          <c:order val="0"/>
          <c:tx>
            <c:strRef>
              <c:f>Sheet1!$B$1</c:f>
              <c:strCache>
                <c:ptCount val="1"/>
                <c:pt idx="0">
                  <c:v>Profit net / CA (%)</c:v>
                </c:pt>
              </c:strCache>
            </c:strRef>
          </c:tx>
          <c:spPr>
            <a:solidFill>
              <a:srgbClr val="B9C2CC"/>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B9C2CC"/>
              </a:solidFill>
              <a:effectLst/>
            </c:spPr>
          </c:dPt>
          <c:dPt>
            <c:idx val="1"/>
            <c:invertIfNegative val="0"/>
            <c:bubble3D val="0"/>
            <c:spPr>
              <a:solidFill>
                <a:srgbClr val="EB6834"/>
              </a:solidFill>
              <a:effectLst/>
            </c:spPr>
          </c:dPt>
          <c:dPt>
            <c:idx val="2"/>
            <c:invertIfNegative val="0"/>
            <c:bubble3D val="0"/>
            <c:spPr>
              <a:solidFill>
                <a:srgbClr val="B9C2CC"/>
              </a:solidFill>
              <a:effectLst/>
            </c:spPr>
          </c:dPt>
          <c:dPt>
            <c:idx val="3"/>
            <c:invertIfNegative val="0"/>
            <c:bubble3D val="0"/>
            <c:spPr>
              <a:solidFill>
                <a:srgbClr val="B9C2CC"/>
              </a:solidFill>
              <a:effectLst/>
            </c:spPr>
          </c:dPt>
          <c:cat>
            <c:multiLvlStrRef>
              <c:f>Sheet1!$A$2:$A$5</c:f>
              <c:multiLvlStrCache>
                <c:ptCount val="4"/>
                <c:lvl>
                  <c:pt idx="0">
                    <c:v>Électronique</c:v>
                  </c:pt>
                  <c:pt idx="1">
                    <c:v>Maison</c:v>
                  </c:pt>
                  <c:pt idx="2">
                    <c:v>Mode</c:v>
                  </c:pt>
                  <c:pt idx="3">
                    <c:v>Beauté</c:v>
                  </c:pt>
                </c:lvl>
              </c:multiLvlStrCache>
            </c:multiLvlStrRef>
          </c:cat>
          <c:val>
            <c:numRef>
              <c:f>Sheet1!$B$2:$B$5</c:f>
              <c:numCache>
                <c:formatCode>General</c:formatCode>
                <c:ptCount val="4"/>
                <c:pt idx="0">
                  <c:v>17.9</c:v>
                </c:pt>
                <c:pt idx="1">
                  <c:v>32</c:v>
                </c:pt>
                <c:pt idx="2">
                  <c:v>22.4</c:v>
                </c:pt>
                <c:pt idx="3">
                  <c:v>28.8</c:v>
                </c:pt>
              </c:numCache>
            </c:numRef>
          </c:val>
        </c:ser>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38"/>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CA net mensuel hors Électronique (k UM)</a:t>
            </a:r>
          </a:p>
        </c:rich>
      </c:tx>
      <c:layout/>
      <c:overlay val="0"/>
    </c:title>
    <c:autoTitleDeleted val="0"/>
    <c:plotArea>
      <c:layout/>
      <c:lineChart>
        <c:varyColors val="0"/>
        <c:ser>
          <c:idx val="0"/>
          <c:order val="0"/>
          <c:tx>
            <c:strRef>
              <c:f>Sheet1!$B$1</c:f>
              <c:strCache>
                <c:ptCount val="1"/>
                <c:pt idx="0">
                  <c:v>Maison</c:v>
                </c:pt>
              </c:strCache>
            </c:strRef>
          </c:tx>
          <c:spPr>
            <a:solidFill>
              <a:srgbClr val="EB6834"/>
            </a:solidFill>
            <a:ln w="44450" cap="flat">
              <a:solidFill>
                <a:srgbClr val="EB6834"/>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9"/>
            <c:spPr>
              <a:solidFill>
                <a:srgbClr val="EB6834"/>
              </a:solidFill>
              <a:ln w="9525" cap="flat">
                <a:solidFill>
                  <a:srgbClr val="EB6834"/>
                </a:solidFill>
                <a:prstDash val="solid"/>
                <a:round/>
              </a:ln>
              <a:effectLst/>
            </c:spPr>
          </c:marker>
          <c:cat>
            <c:multiLvlStrRef>
              <c:f>Sheet1!$A$2:$A$7</c:f>
              <c:multiLvlStrCache>
                <c:ptCount val="6"/>
                <c:lvl>
                  <c:pt idx="0">
                    <c:v>Juil</c:v>
                  </c:pt>
                  <c:pt idx="1">
                    <c:v>Août</c:v>
                  </c:pt>
                  <c:pt idx="2">
                    <c:v>Sept</c:v>
                  </c:pt>
                  <c:pt idx="3">
                    <c:v>Oct</c:v>
                  </c:pt>
                  <c:pt idx="4">
                    <c:v>Nov</c:v>
                  </c:pt>
                  <c:pt idx="5">
                    <c:v>Déc</c:v>
                  </c:pt>
                </c:lvl>
              </c:multiLvlStrCache>
            </c:multiLvlStrRef>
          </c:cat>
          <c:val>
            <c:numRef>
              <c:f>Sheet1!$B$2:$B$7</c:f>
              <c:numCache>
                <c:formatCode>General</c:formatCode>
                <c:ptCount val="6"/>
                <c:pt idx="0">
                  <c:v>46</c:v>
                </c:pt>
                <c:pt idx="1">
                  <c:v>51</c:v>
                </c:pt>
                <c:pt idx="2">
                  <c:v>43</c:v>
                </c:pt>
                <c:pt idx="3">
                  <c:v>44</c:v>
                </c:pt>
                <c:pt idx="4">
                  <c:v>89</c:v>
                </c:pt>
                <c:pt idx="5">
                  <c:v>103</c:v>
                </c:pt>
              </c:numCache>
            </c:numRef>
          </c:val>
          <c:smooth val="0"/>
        </c:ser>
        <c:ser>
          <c:idx val="1"/>
          <c:order val="1"/>
          <c:tx>
            <c:strRef>
              <c:f>Sheet1!$C$1</c:f>
              <c:strCache>
                <c:ptCount val="1"/>
                <c:pt idx="0">
                  <c:v>Mode</c:v>
                </c:pt>
              </c:strCache>
            </c:strRef>
          </c:tx>
          <c:spPr>
            <a:solidFill>
              <a:srgbClr val="1BAF7A"/>
            </a:solidFill>
            <a:ln w="44450" cap="flat">
              <a:solidFill>
                <a:srgbClr val="1BAF7A"/>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9"/>
            <c:spPr>
              <a:solidFill>
                <a:srgbClr val="1BAF7A"/>
              </a:solidFill>
              <a:ln w="9525" cap="flat">
                <a:solidFill>
                  <a:srgbClr val="1BAF7A"/>
                </a:solidFill>
                <a:prstDash val="solid"/>
                <a:round/>
              </a:ln>
              <a:effectLst/>
            </c:spPr>
          </c:marker>
          <c:cat>
            <c:multiLvlStrRef>
              <c:f>Sheet1!$A$2:$A$7</c:f>
              <c:multiLvlStrCache>
                <c:ptCount val="6"/>
                <c:lvl>
                  <c:pt idx="0">
                    <c:v>Juil</c:v>
                  </c:pt>
                  <c:pt idx="1">
                    <c:v>Août</c:v>
                  </c:pt>
                  <c:pt idx="2">
                    <c:v>Sept</c:v>
                  </c:pt>
                  <c:pt idx="3">
                    <c:v>Oct</c:v>
                  </c:pt>
                  <c:pt idx="4">
                    <c:v>Nov</c:v>
                  </c:pt>
                  <c:pt idx="5">
                    <c:v>Déc</c:v>
                  </c:pt>
                </c:lvl>
              </c:multiLvlStrCache>
            </c:multiLvlStrRef>
          </c:cat>
          <c:val>
            <c:numRef>
              <c:f>Sheet1!$C$2:$C$7</c:f>
              <c:numCache>
                <c:formatCode>General</c:formatCode>
                <c:ptCount val="6"/>
                <c:pt idx="0">
                  <c:v>32</c:v>
                </c:pt>
                <c:pt idx="1">
                  <c:v>33</c:v>
                </c:pt>
                <c:pt idx="2">
                  <c:v>34</c:v>
                </c:pt>
                <c:pt idx="3">
                  <c:v>34</c:v>
                </c:pt>
                <c:pt idx="4">
                  <c:v>23</c:v>
                </c:pt>
                <c:pt idx="5">
                  <c:v>25</c:v>
                </c:pt>
              </c:numCache>
            </c:numRef>
          </c:val>
          <c:smooth val="0"/>
        </c:ser>
        <c:ser>
          <c:idx val="2"/>
          <c:order val="2"/>
          <c:tx>
            <c:strRef>
              <c:f>Sheet1!$D$1</c:f>
              <c:strCache>
                <c:ptCount val="1"/>
                <c:pt idx="0">
                  <c:v>Beauté</c:v>
                </c:pt>
              </c:strCache>
            </c:strRef>
          </c:tx>
          <c:spPr>
            <a:solidFill>
              <a:srgbClr val="EDA100"/>
            </a:solidFill>
            <a:ln w="44450" cap="flat">
              <a:solidFill>
                <a:srgbClr val="EDA100"/>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9"/>
            <c:spPr>
              <a:solidFill>
                <a:srgbClr val="EDA100"/>
              </a:solidFill>
              <a:ln w="9525" cap="flat">
                <a:solidFill>
                  <a:srgbClr val="EDA100"/>
                </a:solidFill>
                <a:prstDash val="solid"/>
                <a:round/>
              </a:ln>
              <a:effectLst/>
            </c:spPr>
          </c:marker>
          <c:cat>
            <c:multiLvlStrRef>
              <c:f>Sheet1!$A$2:$A$7</c:f>
              <c:multiLvlStrCache>
                <c:ptCount val="6"/>
                <c:lvl>
                  <c:pt idx="0">
                    <c:v>Juil</c:v>
                  </c:pt>
                  <c:pt idx="1">
                    <c:v>Août</c:v>
                  </c:pt>
                  <c:pt idx="2">
                    <c:v>Sept</c:v>
                  </c:pt>
                  <c:pt idx="3">
                    <c:v>Oct</c:v>
                  </c:pt>
                  <c:pt idx="4">
                    <c:v>Nov</c:v>
                  </c:pt>
                  <c:pt idx="5">
                    <c:v>Déc</c:v>
                  </c:pt>
                </c:lvl>
              </c:multiLvlStrCache>
            </c:multiLvlStrRef>
          </c:cat>
          <c:val>
            <c:numRef>
              <c:f>Sheet1!$D$2:$D$7</c:f>
              <c:numCache>
                <c:formatCode>General</c:formatCode>
                <c:ptCount val="6"/>
                <c:pt idx="0">
                  <c:v>13</c:v>
                </c:pt>
                <c:pt idx="1">
                  <c:v>14</c:v>
                </c:pt>
                <c:pt idx="2">
                  <c:v>11</c:v>
                </c:pt>
                <c:pt idx="3">
                  <c:v>14</c:v>
                </c:pt>
                <c:pt idx="4">
                  <c:v>13</c:v>
                </c:pt>
                <c:pt idx="5">
                  <c:v>14</c:v>
                </c:pt>
              </c:numCache>
            </c:numRef>
          </c:val>
          <c:smooth val="0"/>
        </c:ser>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6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Taux d'annulation par ville</a:t>
            </a:r>
          </a:p>
        </c:rich>
      </c:tx>
      <c:layout/>
      <c:overlay val="0"/>
    </c:title>
    <c:autoTitleDeleted val="0"/>
    <c:plotArea>
      <c:layout/>
      <c:barChart>
        <c:barDir val="bar"/>
        <c:grouping val="clustered"/>
        <c:varyColors val="0"/>
        <c:ser>
          <c:idx val="0"/>
          <c:order val="0"/>
          <c:tx>
            <c:strRef>
              <c:f>Sheet1!$B$1</c:f>
              <c:strCache>
                <c:ptCount val="1"/>
                <c:pt idx="0">
                  <c:v>Taux d'annulation (%)</c:v>
                </c:pt>
              </c:strCache>
            </c:strRef>
          </c:tx>
          <c:spPr>
            <a:solidFill>
              <a:srgbClr val="B42318"/>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B42318"/>
              </a:solidFill>
              <a:effectLst/>
            </c:spPr>
          </c:dPt>
          <c:dPt>
            <c:idx val="1"/>
            <c:invertIfNegative val="0"/>
            <c:bubble3D val="0"/>
            <c:spPr>
              <a:solidFill>
                <a:srgbClr val="B9C2CC"/>
              </a:solidFill>
              <a:effectLst/>
            </c:spPr>
          </c:dPt>
          <c:dPt>
            <c:idx val="2"/>
            <c:invertIfNegative val="0"/>
            <c:bubble3D val="0"/>
            <c:spPr>
              <a:solidFill>
                <a:srgbClr val="B9C2CC"/>
              </a:solidFill>
              <a:effectLst/>
            </c:spPr>
          </c:dPt>
          <c:dPt>
            <c:idx val="3"/>
            <c:invertIfNegative val="0"/>
            <c:bubble3D val="0"/>
            <c:spPr>
              <a:solidFill>
                <a:srgbClr val="B9C2CC"/>
              </a:solidFill>
              <a:effectLst/>
            </c:spPr>
          </c:dPt>
          <c:dPt>
            <c:idx val="4"/>
            <c:invertIfNegative val="0"/>
            <c:bubble3D val="0"/>
            <c:spPr>
              <a:solidFill>
                <a:srgbClr val="B9C2CC"/>
              </a:solidFill>
              <a:effectLst/>
            </c:spPr>
          </c:dPt>
          <c:dPt>
            <c:idx val="5"/>
            <c:invertIfNegative val="0"/>
            <c:bubble3D val="0"/>
            <c:spPr>
              <a:solidFill>
                <a:srgbClr val="B9C2CC"/>
              </a:solidFill>
              <a:effectLst/>
            </c:spPr>
          </c:dPt>
          <c:dPt>
            <c:idx val="6"/>
            <c:invertIfNegative val="0"/>
            <c:bubble3D val="0"/>
            <c:spPr>
              <a:solidFill>
                <a:srgbClr val="B9C2CC"/>
              </a:solidFill>
              <a:effectLst/>
            </c:spPr>
          </c:dPt>
          <c:dPt>
            <c:idx val="7"/>
            <c:invertIfNegative val="0"/>
            <c:bubble3D val="0"/>
            <c:spPr>
              <a:solidFill>
                <a:srgbClr val="B9C2CC"/>
              </a:solidFill>
              <a:effectLst/>
            </c:spPr>
          </c:dPt>
          <c:cat>
            <c:multiLvlStrRef>
              <c:f>Sheet1!$A$2:$A$9</c:f>
              <c:multiLvlStrCache>
                <c:ptCount val="8"/>
                <c:lvl>
                  <c:pt idx="0">
                    <c:v>Douala</c:v>
                  </c:pt>
                  <c:pt idx="1">
                    <c:v>Kinshasa</c:v>
                  </c:pt>
                  <c:pt idx="2">
                    <c:v>Abidjan</c:v>
                  </c:pt>
                  <c:pt idx="3">
                    <c:v>Dakar</c:v>
                  </c:pt>
                  <c:pt idx="4">
                    <c:v>Lomé</c:v>
                  </c:pt>
                  <c:pt idx="5">
                    <c:v>Cotonou</c:v>
                  </c:pt>
                  <c:pt idx="6">
                    <c:v>Libreville</c:v>
                  </c:pt>
                  <c:pt idx="7">
                    <c:v>Brazzaville</c:v>
                  </c:pt>
                </c:lvl>
              </c:multiLvlStrCache>
            </c:multiLvlStrRef>
          </c:cat>
          <c:val>
            <c:numRef>
              <c:f>Sheet1!$B$2:$B$9</c:f>
              <c:numCache>
                <c:formatCode>General</c:formatCode>
                <c:ptCount val="8"/>
                <c:pt idx="0">
                  <c:v>12.9</c:v>
                </c:pt>
                <c:pt idx="1">
                  <c:v>0.3</c:v>
                </c:pt>
                <c:pt idx="2">
                  <c:v>0</c:v>
                </c:pt>
                <c:pt idx="3">
                  <c:v>0</c:v>
                </c:pt>
                <c:pt idx="4">
                  <c:v>0</c:v>
                </c:pt>
                <c:pt idx="5">
                  <c:v>0</c:v>
                </c:pt>
                <c:pt idx="6">
                  <c:v>0</c:v>
                </c:pt>
                <c:pt idx="7">
                  <c:v>0</c:v>
                </c:pt>
              </c:numCache>
            </c:numRef>
          </c:val>
        </c:ser>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Croissance du CA, T4 vs T3, par ville</a:t>
            </a:r>
          </a:p>
        </c:rich>
      </c:tx>
      <c:layout/>
      <c:overlay val="0"/>
    </c:title>
    <c:autoTitleDeleted val="0"/>
    <c:plotArea>
      <c:layout/>
      <c:barChart>
        <c:barDir val="bar"/>
        <c:grouping val="clustered"/>
        <c:varyColors val="0"/>
        <c:ser>
          <c:idx val="0"/>
          <c:order val="0"/>
          <c:tx>
            <c:strRef>
              <c:f>Sheet1!$B$1</c:f>
              <c:strCache>
                <c:ptCount val="1"/>
                <c:pt idx="0">
                  <c:v>Croissance T4 vs T3 (%)</c:v>
                </c:pt>
              </c:strCache>
            </c:strRef>
          </c:tx>
          <c:spPr>
            <a:solidFill>
              <a:srgbClr val="2A78D6"/>
            </a:solidFill>
            <a:effectLst/>
          </c:spPr>
          <c:invertIfNegative val="0"/>
          <c:dLbls>
            <c:numFmt formatCode="+0&quot;%&quot;;−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B42318"/>
              </a:solidFill>
              <a:effectLst/>
            </c:spPr>
          </c:dPt>
          <c:dPt>
            <c:idx val="7"/>
            <c:invertIfNegative val="0"/>
            <c:bubble3D val="0"/>
            <c:spPr>
              <a:solidFill>
                <a:srgbClr val="B42318"/>
              </a:solidFill>
              <a:effectLst/>
            </c:spPr>
          </c:dPt>
          <c:cat>
            <c:multiLvlStrRef>
              <c:f>Sheet1!$A$2:$A$9</c:f>
              <c:multiLvlStrCache>
                <c:ptCount val="8"/>
                <c:lvl>
                  <c:pt idx="0">
                    <c:v>Cotonou</c:v>
                  </c:pt>
                  <c:pt idx="1">
                    <c:v>Douala</c:v>
                  </c:pt>
                  <c:pt idx="2">
                    <c:v>Libreville</c:v>
                  </c:pt>
                  <c:pt idx="3">
                    <c:v>Lomé</c:v>
                  </c:pt>
                  <c:pt idx="4">
                    <c:v>Kinshasa</c:v>
                  </c:pt>
                  <c:pt idx="5">
                    <c:v>Brazzaville</c:v>
                  </c:pt>
                  <c:pt idx="6">
                    <c:v>Abidjan</c:v>
                  </c:pt>
                  <c:pt idx="7">
                    <c:v>Dakar</c:v>
                  </c:pt>
                </c:lvl>
              </c:multiLvlStrCache>
            </c:multiLvlStrRef>
          </c:cat>
          <c:val>
            <c:numRef>
              <c:f>Sheet1!$B$2:$B$9</c:f>
              <c:numCache>
                <c:formatCode>General</c:formatCode>
                <c:ptCount val="8"/>
                <c:pt idx="0">
                  <c:v>34</c:v>
                </c:pt>
                <c:pt idx="1">
                  <c:v>21</c:v>
                </c:pt>
                <c:pt idx="2">
                  <c:v>13</c:v>
                </c:pt>
                <c:pt idx="3">
                  <c:v>6</c:v>
                </c:pt>
                <c:pt idx="4">
                  <c:v>5</c:v>
                </c:pt>
                <c:pt idx="5">
                  <c:v>4</c:v>
                </c:pt>
                <c:pt idx="6">
                  <c:v>-1</c:v>
                </c:pt>
                <c:pt idx="7">
                  <c:v>-7</c:v>
                </c:pt>
              </c:numCache>
            </c:numRef>
          </c:val>
        </c:ser>
        <c:dLbls>
          <c:numFmt formatCode="+0&quot;%&quot;;−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45"/>
          <c:min val="-1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Qui consomme le budget, qui crée le profit</a:t>
            </a:r>
          </a:p>
        </c:rich>
      </c:tx>
      <c:layout/>
      <c:overlay val="0"/>
    </c:title>
    <c:autoTitleDeleted val="0"/>
    <c:plotArea>
      <c:layout/>
      <c:barChart>
        <c:barDir val="col"/>
        <c:grouping val="clustered"/>
        <c:varyColors val="0"/>
        <c:ser>
          <c:idx val="0"/>
          <c:order val="0"/>
          <c:tx>
            <c:strRef>
              <c:f>Sheet1!$B$1</c:f>
              <c:strCache>
                <c:ptCount val="1"/>
                <c:pt idx="0">
                  <c:v>Part du budget (%)</c:v>
                </c:pt>
              </c:strCache>
            </c:strRef>
          </c:tx>
          <c:spPr>
            <a:solidFill>
              <a:srgbClr val="B9C2CC"/>
            </a:solidFill>
            <a:effectLst/>
          </c:spPr>
          <c:invertIfNegative val="0"/>
          <c:dLbls>
            <c:numFmt formatCode="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Instagram Ads</c:v>
                  </c:pt>
                  <c:pt idx="1">
                    <c:v>Google Ads</c:v>
                  </c:pt>
                  <c:pt idx="2">
                    <c:v>Email</c:v>
                  </c:pt>
                  <c:pt idx="3">
                    <c:v>Influenceur</c:v>
                  </c:pt>
                </c:lvl>
              </c:multiLvlStrCache>
            </c:multiLvlStrRef>
          </c:cat>
          <c:val>
            <c:numRef>
              <c:f>Sheet1!$B$2:$B$5</c:f>
              <c:numCache>
                <c:formatCode>General</c:formatCode>
                <c:ptCount val="4"/>
                <c:pt idx="0">
                  <c:v>54</c:v>
                </c:pt>
                <c:pt idx="1">
                  <c:v>19</c:v>
                </c:pt>
                <c:pt idx="2">
                  <c:v>3</c:v>
                </c:pt>
                <c:pt idx="3">
                  <c:v>24</c:v>
                </c:pt>
              </c:numCache>
            </c:numRef>
          </c:val>
        </c:ser>
        <c:ser>
          <c:idx val="1"/>
          <c:order val="1"/>
          <c:tx>
            <c:strRef>
              <c:f>Sheet1!$C$1</c:f>
              <c:strCache>
                <c:ptCount val="1"/>
                <c:pt idx="0">
                  <c:v>Part du profit net (%)</c:v>
                </c:pt>
              </c:strCache>
            </c:strRef>
          </c:tx>
          <c:spPr>
            <a:solidFill>
              <a:srgbClr val="3D4A57"/>
            </a:solidFill>
            <a:effectLst/>
          </c:spPr>
          <c:invertIfNegative val="0"/>
          <c:dLbls>
            <c:numFmt formatCode="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Instagram Ads</c:v>
                  </c:pt>
                  <c:pt idx="1">
                    <c:v>Google Ads</c:v>
                  </c:pt>
                  <c:pt idx="2">
                    <c:v>Email</c:v>
                  </c:pt>
                  <c:pt idx="3">
                    <c:v>Influenceur</c:v>
                  </c:pt>
                </c:lvl>
              </c:multiLvlStrCache>
            </c:multiLvlStrRef>
          </c:cat>
          <c:val>
            <c:numRef>
              <c:f>Sheet1!$C$2:$C$5</c:f>
              <c:numCache>
                <c:formatCode>General</c:formatCode>
                <c:ptCount val="4"/>
                <c:pt idx="0">
                  <c:v>25</c:v>
                </c:pt>
                <c:pt idx="1">
                  <c:v>32</c:v>
                </c:pt>
                <c:pt idx="2">
                  <c:v>28</c:v>
                </c:pt>
                <c:pt idx="3">
                  <c:v>15</c:v>
                </c:pt>
              </c:numCache>
            </c:numRef>
          </c:val>
        </c:ser>
        <c:dLbls>
          <c:numFmt formatCode="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65"/>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6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ROI sur profit net (profit / coût marketing)</a:t>
            </a:r>
          </a:p>
        </c:rich>
      </c:tx>
      <c:layout/>
      <c:overlay val="0"/>
    </c:title>
    <c:autoTitleDeleted val="0"/>
    <c:plotArea>
      <c:layout/>
      <c:barChart>
        <c:barDir val="bar"/>
        <c:grouping val="clustered"/>
        <c:varyColors val="0"/>
        <c:ser>
          <c:idx val="0"/>
          <c:order val="0"/>
          <c:tx>
            <c:strRef>
              <c:f>Sheet1!$B$1</c:f>
              <c:strCache>
                <c:ptCount val="1"/>
                <c:pt idx="0">
                  <c:v>ROI sur profit net</c:v>
                </c:pt>
              </c:strCache>
            </c:strRef>
          </c:tx>
          <c:spPr>
            <a:solidFill>
              <a:srgbClr val="1BAF7A"/>
            </a:solidFill>
            <a:effectLst/>
          </c:spPr>
          <c:invertIfNegative val="0"/>
          <c:dLbls>
            <c:numFmt formatCode="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1BAF7A"/>
              </a:solidFill>
              <a:effectLst/>
            </c:spPr>
          </c:dPt>
          <c:dPt>
            <c:idx val="1"/>
            <c:invertIfNegative val="0"/>
            <c:bubble3D val="0"/>
            <c:spPr>
              <a:solidFill>
                <a:srgbClr val="EB6834"/>
              </a:solidFill>
              <a:effectLst/>
            </c:spPr>
          </c:dPt>
          <c:dPt>
            <c:idx val="2"/>
            <c:invertIfNegative val="0"/>
            <c:bubble3D val="0"/>
            <c:spPr>
              <a:solidFill>
                <a:srgbClr val="EDA100"/>
              </a:solidFill>
              <a:effectLst/>
            </c:spPr>
          </c:dPt>
          <c:dPt>
            <c:idx val="3"/>
            <c:invertIfNegative val="0"/>
            <c:bubble3D val="0"/>
            <c:spPr>
              <a:solidFill>
                <a:srgbClr val="2A78D6"/>
              </a:solidFill>
              <a:effectLst/>
            </c:spPr>
          </c:dPt>
          <c:cat>
            <c:multiLvlStrRef>
              <c:f>Sheet1!$A$2:$A$5</c:f>
              <c:multiLvlStrCache>
                <c:ptCount val="4"/>
                <c:lvl>
                  <c:pt idx="0">
                    <c:v>Email</c:v>
                  </c:pt>
                  <c:pt idx="1">
                    <c:v>Google Ads</c:v>
                  </c:pt>
                  <c:pt idx="2">
                    <c:v>Influenceur</c:v>
                  </c:pt>
                  <c:pt idx="3">
                    <c:v>Instagram Ads</c:v>
                  </c:pt>
                </c:lvl>
              </c:multiLvlStrCache>
            </c:multiLvlStrRef>
          </c:cat>
          <c:val>
            <c:numRef>
              <c:f>Sheet1!$B$2:$B$5</c:f>
              <c:numCache>
                <c:formatCode>General</c:formatCode>
                <c:ptCount val="4"/>
                <c:pt idx="0">
                  <c:v>54</c:v>
                </c:pt>
                <c:pt idx="1">
                  <c:v>11.1</c:v>
                </c:pt>
                <c:pt idx="2">
                  <c:v>4.3</c:v>
                </c:pt>
                <c:pt idx="3">
                  <c:v>3.1</c:v>
                </c:pt>
              </c:numCache>
            </c:numRef>
          </c:val>
        </c:ser>
        <c:dLbls>
          <c:numFmt formatCode="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6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Gain net (k UM / semestre) selon l'efficacité marginale de Google Ads, en % de sa moyenne</a:t>
            </a:r>
          </a:p>
        </c:rich>
      </c:tx>
      <c:layout/>
      <c:overlay val="0"/>
    </c:title>
    <c:autoTitleDeleted val="0"/>
    <c:plotArea>
      <c:layout/>
      <c:barChart>
        <c:barDir val="col"/>
        <c:grouping val="clustered"/>
        <c:varyColors val="0"/>
        <c:ser>
          <c:idx val="0"/>
          <c:order val="0"/>
          <c:tx>
            <c:strRef>
              <c:f>Sheet1!$B$1</c:f>
              <c:strCache>
                <c:ptCount val="1"/>
                <c:pt idx="0">
                  <c:v>Gain net de profit (k UM)</c:v>
                </c:pt>
              </c:strCache>
            </c:strRef>
          </c:tx>
          <c:spPr>
            <a:solidFill>
              <a:srgbClr val="B42318"/>
            </a:solidFill>
            <a:effectLst/>
          </c:spPr>
          <c:invertIfNegative val="0"/>
          <c:dLbls>
            <c:numFmt formatCode="+0.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B42318"/>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2A78D6"/>
              </a:solidFill>
              <a:effectLst/>
            </c:spPr>
          </c:dPt>
          <c:cat>
            <c:multiLvlStrRef>
              <c:f>Sheet1!$A$2:$A$6</c:f>
              <c:multiLvlStrCache>
                <c:ptCount val="5"/>
                <c:lvl>
                  <c:pt idx="0">
                    <c:v>30 %</c:v>
                  </c:pt>
                  <c:pt idx="1">
                    <c:v>40 %</c:v>
                  </c:pt>
                  <c:pt idx="2">
                    <c:v>50 %</c:v>
                  </c:pt>
                  <c:pt idx="3">
                    <c:v>70 %</c:v>
                  </c:pt>
                  <c:pt idx="4">
                    <c:v>100 %</c:v>
                  </c:pt>
                </c:lvl>
              </c:multiLvlStrCache>
            </c:multiLvlStrRef>
          </c:cat>
          <c:val>
            <c:numRef>
              <c:f>Sheet1!$B$2:$B$6</c:f>
              <c:numCache>
                <c:formatCode>General</c:formatCode>
                <c:ptCount val="5"/>
                <c:pt idx="0">
                  <c:v>-11.1</c:v>
                </c:pt>
                <c:pt idx="1">
                  <c:v>5.2</c:v>
                </c:pt>
                <c:pt idx="2">
                  <c:v>21.6</c:v>
                </c:pt>
                <c:pt idx="3">
                  <c:v>54.4</c:v>
                </c:pt>
                <c:pt idx="4">
                  <c:v>103.6</c:v>
                </c:pt>
              </c:numCache>
            </c:numRef>
          </c:val>
        </c:ser>
        <c:dLbls>
          <c:numFmt formatCode="+0.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120"/>
          <c:min val="-3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Part cumulée du CA selon la part de clients (du meilleur au plus faible)</a:t>
            </a:r>
          </a:p>
        </c:rich>
      </c:tx>
      <c:layout/>
      <c:overlay val="0"/>
    </c:title>
    <c:autoTitleDeleted val="0"/>
    <c:plotArea>
      <c:layout/>
      <c:lineChart>
        <c:varyColors val="0"/>
        <c:ser>
          <c:idx val="0"/>
          <c:order val="0"/>
          <c:tx>
            <c:strRef>
              <c:f>Sheet1!$B$1</c:f>
              <c:strCache>
                <c:ptCount val="1"/>
                <c:pt idx="0">
                  <c:v>CA cumulé</c:v>
                </c:pt>
              </c:strCache>
            </c:strRef>
          </c:tx>
          <c:spPr>
            <a:solidFill>
              <a:srgbClr val="1F4E8C"/>
            </a:solidFill>
            <a:ln w="38100" cap="flat">
              <a:solidFill>
                <a:srgbClr val="1F4E8C"/>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none"/>
            <c:size val="6"/>
            <c:spPr>
              <a:solidFill>
                <a:srgbClr val="1F4E8C"/>
              </a:solidFill>
              <a:ln w="9525" cap="flat">
                <a:solidFill>
                  <a:srgbClr val="1F4E8C"/>
                </a:solidFill>
                <a:prstDash val="solid"/>
                <a:round/>
              </a:ln>
              <a:effectLst/>
            </c:spPr>
          </c:marker>
          <c:cat>
            <c:multiLvlStrRef>
              <c:f>Sheet1!$A$2:$A$22</c:f>
              <c:multiLvlStrCache>
                <c:ptCount val="21"/>
                <c:lvl>
                  <c:pt idx="0">
                    <c:v>0 %</c:v>
                  </c:pt>
                  <c:pt idx="1">
                    <c:v>5 %</c:v>
                  </c:pt>
                  <c:pt idx="2">
                    <c:v>10 %</c:v>
                  </c:pt>
                  <c:pt idx="3">
                    <c:v>15 %</c:v>
                  </c:pt>
                  <c:pt idx="4">
                    <c:v>20 %</c:v>
                  </c:pt>
                  <c:pt idx="5">
                    <c:v>25 %</c:v>
                  </c:pt>
                  <c:pt idx="6">
                    <c:v>30 %</c:v>
                  </c:pt>
                  <c:pt idx="7">
                    <c:v>35 %</c:v>
                  </c:pt>
                  <c:pt idx="8">
                    <c:v>40 %</c:v>
                  </c:pt>
                  <c:pt idx="9">
                    <c:v>45 %</c:v>
                  </c:pt>
                  <c:pt idx="10">
                    <c:v>50 %</c:v>
                  </c:pt>
                  <c:pt idx="11">
                    <c:v>55 %</c:v>
                  </c:pt>
                  <c:pt idx="12">
                    <c:v>60 %</c:v>
                  </c:pt>
                  <c:pt idx="13">
                    <c:v>65 %</c:v>
                  </c:pt>
                  <c:pt idx="14">
                    <c:v>70 %</c:v>
                  </c:pt>
                  <c:pt idx="15">
                    <c:v>75 %</c:v>
                  </c:pt>
                  <c:pt idx="16">
                    <c:v>80 %</c:v>
                  </c:pt>
                  <c:pt idx="17">
                    <c:v>85 %</c:v>
                  </c:pt>
                  <c:pt idx="18">
                    <c:v>90 %</c:v>
                  </c:pt>
                  <c:pt idx="19">
                    <c:v>95 %</c:v>
                  </c:pt>
                  <c:pt idx="20">
                    <c:v>100 %</c:v>
                  </c:pt>
                </c:lvl>
              </c:multiLvlStrCache>
            </c:multiLvlStrRef>
          </c:cat>
          <c:val>
            <c:numRef>
              <c:f>Sheet1!$B$2:$B$22</c:f>
              <c:numCache>
                <c:formatCode>General</c:formatCode>
                <c:ptCount val="21"/>
                <c:pt idx="0">
                  <c:v>0</c:v>
                </c:pt>
                <c:pt idx="1">
                  <c:v>24</c:v>
                </c:pt>
                <c:pt idx="2">
                  <c:v>41</c:v>
                </c:pt>
                <c:pt idx="3">
                  <c:v>54</c:v>
                </c:pt>
                <c:pt idx="4">
                  <c:v>65</c:v>
                </c:pt>
                <c:pt idx="5">
                  <c:v>73</c:v>
                </c:pt>
                <c:pt idx="6">
                  <c:v>79</c:v>
                </c:pt>
                <c:pt idx="7">
                  <c:v>84</c:v>
                </c:pt>
                <c:pt idx="8">
                  <c:v>88</c:v>
                </c:pt>
                <c:pt idx="9">
                  <c:v>91</c:v>
                </c:pt>
                <c:pt idx="10">
                  <c:v>93</c:v>
                </c:pt>
                <c:pt idx="11">
                  <c:v>95</c:v>
                </c:pt>
                <c:pt idx="12">
                  <c:v>96</c:v>
                </c:pt>
                <c:pt idx="13">
                  <c:v>97</c:v>
                </c:pt>
                <c:pt idx="14">
                  <c:v>98</c:v>
                </c:pt>
                <c:pt idx="15">
                  <c:v>99</c:v>
                </c:pt>
                <c:pt idx="16">
                  <c:v>99</c:v>
                </c:pt>
                <c:pt idx="17">
                  <c:v>100</c:v>
                </c:pt>
                <c:pt idx="18">
                  <c:v>100</c:v>
                </c:pt>
                <c:pt idx="19">
                  <c:v>100</c:v>
                </c:pt>
                <c:pt idx="20">
                  <c:v>100</c:v>
                </c:pt>
              </c:numCache>
            </c:numRef>
          </c:val>
          <c:smooth val="0"/>
        </c:ser>
        <c:ser>
          <c:idx val="1"/>
          <c:order val="1"/>
          <c:tx>
            <c:strRef>
              <c:f>Sheet1!$C$1</c:f>
              <c:strCache>
                <c:ptCount val="1"/>
                <c:pt idx="0">
                  <c:v>Répartition égale</c:v>
                </c:pt>
              </c:strCache>
            </c:strRef>
          </c:tx>
          <c:spPr>
            <a:solidFill>
              <a:srgbClr val="9AA5B1"/>
            </a:solidFill>
            <a:ln w="38100" cap="flat">
              <a:solidFill>
                <a:srgbClr val="9AA5B1"/>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none"/>
            <c:size val="6"/>
            <c:spPr>
              <a:solidFill>
                <a:srgbClr val="9AA5B1"/>
              </a:solidFill>
              <a:ln w="9525" cap="flat">
                <a:solidFill>
                  <a:srgbClr val="9AA5B1"/>
                </a:solidFill>
                <a:prstDash val="solid"/>
                <a:round/>
              </a:ln>
              <a:effectLst/>
            </c:spPr>
          </c:marker>
          <c:cat>
            <c:multiLvlStrRef>
              <c:f>Sheet1!$A$2:$A$22</c:f>
              <c:multiLvlStrCache>
                <c:ptCount val="21"/>
                <c:lvl>
                  <c:pt idx="0">
                    <c:v>0 %</c:v>
                  </c:pt>
                  <c:pt idx="1">
                    <c:v>5 %</c:v>
                  </c:pt>
                  <c:pt idx="2">
                    <c:v>10 %</c:v>
                  </c:pt>
                  <c:pt idx="3">
                    <c:v>15 %</c:v>
                  </c:pt>
                  <c:pt idx="4">
                    <c:v>20 %</c:v>
                  </c:pt>
                  <c:pt idx="5">
                    <c:v>25 %</c:v>
                  </c:pt>
                  <c:pt idx="6">
                    <c:v>30 %</c:v>
                  </c:pt>
                  <c:pt idx="7">
                    <c:v>35 %</c:v>
                  </c:pt>
                  <c:pt idx="8">
                    <c:v>40 %</c:v>
                  </c:pt>
                  <c:pt idx="9">
                    <c:v>45 %</c:v>
                  </c:pt>
                  <c:pt idx="10">
                    <c:v>50 %</c:v>
                  </c:pt>
                  <c:pt idx="11">
                    <c:v>55 %</c:v>
                  </c:pt>
                  <c:pt idx="12">
                    <c:v>60 %</c:v>
                  </c:pt>
                  <c:pt idx="13">
                    <c:v>65 %</c:v>
                  </c:pt>
                  <c:pt idx="14">
                    <c:v>70 %</c:v>
                  </c:pt>
                  <c:pt idx="15">
                    <c:v>75 %</c:v>
                  </c:pt>
                  <c:pt idx="16">
                    <c:v>80 %</c:v>
                  </c:pt>
                  <c:pt idx="17">
                    <c:v>85 %</c:v>
                  </c:pt>
                  <c:pt idx="18">
                    <c:v>90 %</c:v>
                  </c:pt>
                  <c:pt idx="19">
                    <c:v>95 %</c:v>
                  </c:pt>
                  <c:pt idx="20">
                    <c:v>100 %</c:v>
                  </c:pt>
                </c:lvl>
              </c:multiLvlStrCache>
            </c:multiLvlStrRef>
          </c:cat>
          <c:val>
            <c:numRef>
              <c:f>Sheet1!$C$2:$C$22</c:f>
              <c:numCache>
                <c:formatCode>General</c:formatCode>
                <c:ptCount val="2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numCache>
            </c:numRef>
          </c:val>
          <c:smooth val="0"/>
        </c:ser>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1E0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6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Impact estimé sur le profit (k UM / semestre)</a:t>
            </a:r>
          </a:p>
        </c:rich>
      </c:tx>
      <c:layout/>
      <c:overlay val="0"/>
    </c:title>
    <c:autoTitleDeleted val="0"/>
    <c:plotArea>
      <c:layout/>
      <c:barChart>
        <c:barDir val="bar"/>
        <c:grouping val="clustered"/>
        <c:varyColors val="0"/>
        <c:ser>
          <c:idx val="0"/>
          <c:order val="0"/>
          <c:tx>
            <c:strRef>
              <c:f>Sheet1!$B$1</c:f>
              <c:strCache>
                <c:ptCount val="1"/>
                <c:pt idx="0">
                  <c:v>Impact profit (k UM / semestre)</c:v>
                </c:pt>
              </c:strCache>
            </c:strRef>
          </c:tx>
          <c:spPr>
            <a:solidFill>
              <a:srgbClr val="1F4E8C"/>
            </a:solidFill>
            <a:effectLst/>
          </c:spPr>
          <c:invertIfNegative val="0"/>
          <c:dLbls>
            <c:numFmt formatCode="+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Douala : annulations</c:v>
                  </c:pt>
                  <c:pt idx="1">
                    <c:v>Électronique : retours</c:v>
                  </c:pt>
                  <c:pt idx="2">
                    <c:v>Marketing : réallocation</c:v>
                  </c:pt>
                  <c:pt idx="3">
                    <c:v>Maison / Mode : mix</c:v>
                  </c:pt>
                  <c:pt idx="4">
                    <c:v>Rétention clients</c:v>
                  </c:pt>
                </c:lvl>
              </c:multiLvlStrCache>
            </c:multiLvlStrRef>
          </c:cat>
          <c:val>
            <c:numRef>
              <c:f>Sheet1!$B$2:$B$6</c:f>
              <c:numCache>
                <c:formatCode>General</c:formatCode>
                <c:ptCount val="5"/>
                <c:pt idx="0">
                  <c:v>7.3</c:v>
                </c:pt>
                <c:pt idx="1">
                  <c:v>21.7</c:v>
                </c:pt>
                <c:pt idx="2">
                  <c:v>21.6</c:v>
                </c:pt>
                <c:pt idx="3">
                  <c:v>3.8</c:v>
                </c:pt>
                <c:pt idx="4">
                  <c:v>5.2</c:v>
                </c:pt>
              </c:numCache>
            </c:numRef>
          </c:val>
        </c:ser>
        <c:dLbls>
          <c:numFmt formatCode="+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28"/>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Bonne journée à tous. En 20 minutes : ce que disent six mois de données, les quatre fuites de profit identifiées, et les trois décisions que je vous demande aujourd'hui. Les montants sont en UM, l'unité monétaire du jeu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en une phrase : AfriMarket gagne de l'argent, 461 k UM de profit sur 2,18 M UM de CA, mais quatre fuites précises et corrigeables lui coûtent environ 60 k UM par semestre, soit 13 % de profit en plus, sans augmenter le budget. Je détaille chaque fuite dans les diapositives suivantes.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toute analyse, j'ai audité le fichier : 18 % des lignes avaient au moins une anomalie. Le piège le plus lourd : 600 lignes étiquetées « electronique ». Corriger la casse n'aurait pas suffi, car 436 d'entre elles étaient en fait des produits Beauté, Mode ou Maison. Sans ce reclassement, le taux de retour de l'Électronique et toutes les marges par catégorie auraient été faux. Les chiffres que je vous présente sont sur des données propres et contrôlées.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 est stable de juillet à octobre, creuse en novembre, puis atteint son maximum en décembre. Ce creux-puis-rebond cache en réalité une bascule de mix entre catégories, que je montre plus loin. Le panier moyen est de 258 UM et le profit représente 21 % du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cascade montre où part l'argent. De 2,55 millions facturés, 319 k disparaissent en retours et 50 k en annulations. Le coût d'achat est le plus gros poste, mais c'est le métier. Les retours, eux, sont un levier directement actionnable.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L'Électronique est notre pilier : 71 % du CA et 60 % du profit. Mais elle affiche 15,6 % de retours, 2 à 5 fois plus que les autres catégories, et son problème touche les 50 produits et toutes les villes : il est structurel, donc lié à la qualité, au sourcing ou aux fiches produit. À l'inverse, Maison est la catégorie la plus rentable avec 32 % de profit sur CA et seulement 5 % de retours.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l'explication des variations de CA que vous constatez. Début novembre, la demande bascule : les commandes Maison doublent, alors que Mode recule d'environ 30 %. Les remises sont inchangées : c'est de la demande, pas de la promotion. Il faut donc anticiper le stock Maison pour le prochain pic et comprendre ce qui se passe sur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point le plus actionnable de l'analyse. Douala annule près de 13 % de ses commandes, contre 0,1 % dans les sept autres villes réunies. Ce n'est lié ni au canal marketing, ni à la catégorie, ni au moyen de paiement, ni au mois : c'est donc un dysfonctionnement propre à la ville. Chaque UM de marketing dépensée à Douala est en partie gaspillée tant que ce problème n'est pas réglé.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rentabilité est quasi identique dans toutes les villes, autour de 21 % du CA : ce sont le volume et la dynamique qui font la différence. Kinshasa est le socle avec 30 % du CA. Cotonou est la ville la plus dynamique, +34 % sur le dernier trimestre. Douala croît aussi, mais il faut d'abord corriger les annulations. Dakar et Abidjan stagnent : diagnostic avant tout budget supplémentaire.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canaux amènent le même panier et le même mix de produits : ils diffèrent par leur coût, pas par la qualité de la demande. Instagram reçoit 54 % du budget mais ne produit que 25 % du profit. Son retour sur profit est de 3,1, contre 11 pour Google Ads. L'Email a un rendement exceptionnel, mais il touche surtout des clients déjà acquis : c'est un levier de rétention, pas d'acquisition. Attention : ce sont des rendements moyens, pas des gains incrémentaux, d'où la prudence de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Réallouer est rentable, mais pas de façon illimitée : plus on met d'argent sur Google, moins chaque UM rapporte. Le graphique montre le gain selon l'efficacité de la dernière UM investie. Au point de rendement moyen on gagnerait 100 k, mais en hypothèse prudente à 50 % on gagne environ 22 k, et la décision devient mauvaise si Google tombe sous 37 % de son efficacité moyenne. D'où la règle : paliers de 10 %, mesure, et arrêt si le seuil est franchi.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est concentrée : 31 % des clients réalisent 80 % du CA, et les 174 clients VIP, soit 10 % de la base, font 41 % du CA et 41 % du profit. Perdre quelques VIP coûterait cher. En revanche, le top 10 ne pèse que 3,9 % du CA : il n'y a pas de dépendance à un client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ne s'agit pas de refaire toute la base, déjà fidèle à 73 %. Trois poches : les 465 clients qui n'ont acheté qu'une fois, les 130 clients récurrents qui décrochent et représentent 63 k UM de CA historique, et les 174 VIP qu'il faut protéger. Les écarts de rétention entre canaux sont faibles, entre 71 et 75 % : la fidélisation se gagne par l'après-vente.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cinq recommandations et leur impact estimé. Ce sont des ordres de grandeur volontairement prudents : on récupère 70 % des annulations en excès à Douala, on ramène les retours Électronique de 15,6 à 10 %, on réalloue avec 50 % d'efficacité marginale, on ramène Mode au niveau du T3 et on réactive 30 % des clients à risque. Au total, environ 60 k UM par semestre, soit 13 % de profit en plus, sans budget supplémentaire.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est séquencé pour limiter le risque. À 30 jours : diagnostic sur Douala et sur la qualité Électronique, et mise en place du suivi. À 60 jours : premier palier de réallocation marketing, mesuré, et lancement des relances clients. À 90 jours : programme VIP, ventes croisées et préparation du stock Maison.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trois décisions. Un : mandater l'audit de Douala. Deux : lancer le plan qualité sur l'Électronique. Trois : autoriser le premier palier de réallocation marketing, avec le programme de rétention. Limites à garder en tête : le coût d'achat est une hypothèse, les classements sont robustes mais les montants sont des ordres de grandeur ; six mois d'historique ne confirment pas la saisonnalité de Maison. Prochaine étape : collecter le coût d'achat réel et le motif des retours et annulations. Merci, je prends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100" dirty="0">
                <a:solidFill>
                  <a:srgbClr val="5B6670"/>
                </a:solidFill>
              </a:rPr>
              <a:t>AfriMarket · Analyse juillet – décembre 2025</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9692640" cy="210312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822960" y="3794760"/>
            <a:ext cx="9692640" cy="822960"/>
          </a:xfrm>
          <a:prstGeom prst="rect">
            <a:avLst/>
          </a:prstGeom>
          <a:noFill/>
          <a:ln/>
        </p:spPr>
        <p:txBody>
          <a:bodyPr wrap="square" rtlCol="0"/>
          <a:lstStyle>
            <a:lvl1pPr algn="l" indent="0" marL="0">
              <a:buNone/>
              <a:defRPr lang="en-US" sz="2000" dirty="0">
                <a:solidFill>
                  <a:srgbClr val="CADCFC"/>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TU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9692640" cy="2103120"/>
          </a:xfrm>
          <a:prstGeom prst="rect">
            <a:avLst/>
          </a:prstGeom>
          <a:noFill/>
          <a:ln/>
        </p:spPr>
        <p:txBody>
          <a:bodyPr wrap="square" lIns="0" tIns="0" rIns="0" bIns="0" rtlCol="0" anchor="t"/>
          <a:lstStyle/>
          <a:p>
            <a:pPr algn="l" indent="0" marL="0">
              <a:buNone/>
            </a:pPr>
            <a:r>
              <a:rPr lang="en-US" sz="5000" b="1" dirty="0">
                <a:solidFill>
                  <a:schemeClr val="bg1"/>
                </a:solidFill>
              </a:rPr>
              <a:t>Où AfriMarket perd du profit, et comment le récupérer</a:t>
            </a:r>
            <a:endParaRPr lang="en-US" sz="5000" dirty="0"/>
          </a:p>
        </p:txBody>
      </p:sp>
      <p:sp>
        <p:nvSpPr>
          <p:cNvPr id="3" name="Text 0"/>
          <p:cNvSpPr/>
          <p:nvPr>
            <p:ph idx="101" type="body" hasCustomPrompt="1"/>
          </p:nvPr>
        </p:nvSpPr>
        <p:spPr>
          <a:xfrm>
            <a:off x="822960" y="3794760"/>
            <a:ext cx="9692640" cy="822960"/>
          </a:xfrm>
          <a:prstGeom prst="rect">
            <a:avLst/>
          </a:prstGeom>
          <a:noFill/>
          <a:ln/>
        </p:spPr>
        <p:txBody>
          <a:bodyPr wrap="square" lIns="0" tIns="0" rIns="0" bIns="0" rtlCol="0" anchor="t"/>
          <a:lstStyle/>
          <a:p>
            <a:pPr algn="l" indent="0" marL="0">
              <a:buNone/>
            </a:pPr>
            <a:r>
              <a:rPr lang="en-US" sz="2000" dirty="0">
                <a:solidFill>
                  <a:srgbClr val="CADCFC"/>
                </a:solidFill>
              </a:rPr>
              <a:t>Analyse de l'activité juillet – décembre 2025 · Présentation à la Direction générale</a:t>
            </a:r>
            <a:endParaRPr lang="en-US" sz="2000" dirty="0"/>
          </a:p>
        </p:txBody>
      </p:sp>
      <p:sp>
        <p:nvSpPr>
          <p:cNvPr id="4" name="Pastille chiffre"/>
          <p:cNvSpPr/>
          <p:nvPr/>
        </p:nvSpPr>
        <p:spPr>
          <a:xfrm>
            <a:off x="822960" y="5074920"/>
            <a:ext cx="3108960" cy="1005840"/>
          </a:xfrm>
          <a:prstGeom prst="roundRect">
            <a:avLst>
              <a:gd name="adj" fmla="val 7273"/>
            </a:avLst>
          </a:prstGeom>
          <a:solidFill>
            <a:schemeClr val="accent1"/>
          </a:solidFill>
          <a:ln/>
        </p:spPr>
      </p:sp>
      <p:sp>
        <p:nvSpPr>
          <p:cNvPr id="5" name="Chiffre couverture"/>
          <p:cNvSpPr txBox="1"/>
          <p:nvPr/>
        </p:nvSpPr>
        <p:spPr>
          <a:xfrm>
            <a:off x="1051560" y="5138928"/>
            <a:ext cx="2651760" cy="548640"/>
          </a:xfrm>
          <a:prstGeom prst="rect">
            <a:avLst/>
          </a:prstGeom>
          <a:noFill/>
          <a:ln/>
        </p:spPr>
        <p:txBody>
          <a:bodyPr wrap="square" lIns="0" tIns="0" rIns="0" bIns="0" rtlCol="0" anchor="ctr"/>
          <a:lstStyle/>
          <a:p>
            <a:pPr indent="0" marL="0">
              <a:buNone/>
            </a:pPr>
            <a:r>
              <a:rPr lang="en-US" sz="2800" b="1" dirty="0">
                <a:solidFill>
                  <a:schemeClr val="bg1"/>
                </a:solidFill>
              </a:rPr>
              <a:t>2,18 M UM</a:t>
            </a:r>
            <a:endParaRPr lang="en-US" sz="2800" dirty="0"/>
          </a:p>
        </p:txBody>
      </p:sp>
      <p:sp>
        <p:nvSpPr>
          <p:cNvPr id="6" name="Légende couverture"/>
          <p:cNvSpPr txBox="1"/>
          <p:nvPr/>
        </p:nvSpPr>
        <p:spPr>
          <a:xfrm>
            <a:off x="1051560" y="5669280"/>
            <a:ext cx="2651760" cy="320040"/>
          </a:xfrm>
          <a:prstGeom prst="rect">
            <a:avLst/>
          </a:prstGeom>
          <a:noFill/>
          <a:ln/>
        </p:spPr>
        <p:txBody>
          <a:bodyPr wrap="square" lIns="0" tIns="0" rIns="0" bIns="0" rtlCol="0" anchor="t"/>
          <a:lstStyle/>
          <a:p>
            <a:pPr indent="0" marL="0">
              <a:buNone/>
            </a:pPr>
            <a:r>
              <a:rPr lang="en-US" sz="1400" dirty="0">
                <a:solidFill>
                  <a:srgbClr val="CADCFC"/>
                </a:solidFill>
              </a:rPr>
              <a:t>CA net</a:t>
            </a:r>
            <a:endParaRPr lang="en-US" sz="1400" dirty="0"/>
          </a:p>
        </p:txBody>
      </p:sp>
      <p:sp>
        <p:nvSpPr>
          <p:cNvPr id="7" name="Pastille chiffre"/>
          <p:cNvSpPr/>
          <p:nvPr/>
        </p:nvSpPr>
        <p:spPr>
          <a:xfrm>
            <a:off x="4206240" y="5074920"/>
            <a:ext cx="3108960" cy="1005840"/>
          </a:xfrm>
          <a:prstGeom prst="roundRect">
            <a:avLst>
              <a:gd name="adj" fmla="val 7273"/>
            </a:avLst>
          </a:prstGeom>
          <a:solidFill>
            <a:schemeClr val="accent1"/>
          </a:solidFill>
          <a:ln/>
        </p:spPr>
      </p:sp>
      <p:sp>
        <p:nvSpPr>
          <p:cNvPr id="8" name="Chiffre couverture"/>
          <p:cNvSpPr txBox="1"/>
          <p:nvPr/>
        </p:nvSpPr>
        <p:spPr>
          <a:xfrm>
            <a:off x="4434840" y="5138928"/>
            <a:ext cx="2651760" cy="548640"/>
          </a:xfrm>
          <a:prstGeom prst="rect">
            <a:avLst/>
          </a:prstGeom>
          <a:noFill/>
          <a:ln/>
        </p:spPr>
        <p:txBody>
          <a:bodyPr wrap="square" lIns="0" tIns="0" rIns="0" bIns="0" rtlCol="0" anchor="ctr"/>
          <a:lstStyle/>
          <a:p>
            <a:pPr indent="0" marL="0">
              <a:buNone/>
            </a:pPr>
            <a:r>
              <a:rPr lang="en-US" sz="2800" b="1" dirty="0">
                <a:solidFill>
                  <a:schemeClr val="bg1"/>
                </a:solidFill>
              </a:rPr>
              <a:t>461 k UM</a:t>
            </a:r>
            <a:endParaRPr lang="en-US" sz="2800" dirty="0"/>
          </a:p>
        </p:txBody>
      </p:sp>
      <p:sp>
        <p:nvSpPr>
          <p:cNvPr id="9" name="Légende couverture"/>
          <p:cNvSpPr txBox="1"/>
          <p:nvPr/>
        </p:nvSpPr>
        <p:spPr>
          <a:xfrm>
            <a:off x="4434840" y="5669280"/>
            <a:ext cx="2651760" cy="320040"/>
          </a:xfrm>
          <a:prstGeom prst="rect">
            <a:avLst/>
          </a:prstGeom>
          <a:noFill/>
          <a:ln/>
        </p:spPr>
        <p:txBody>
          <a:bodyPr wrap="square" lIns="0" tIns="0" rIns="0" bIns="0" rtlCol="0" anchor="t"/>
          <a:lstStyle/>
          <a:p>
            <a:pPr indent="0" marL="0">
              <a:buNone/>
            </a:pPr>
            <a:r>
              <a:rPr lang="en-US" sz="1400" dirty="0">
                <a:solidFill>
                  <a:srgbClr val="CADCFC"/>
                </a:solidFill>
              </a:rPr>
              <a:t>Profit net</a:t>
            </a:r>
            <a:endParaRPr lang="en-US" sz="1400" dirty="0"/>
          </a:p>
        </p:txBody>
      </p:sp>
      <p:sp>
        <p:nvSpPr>
          <p:cNvPr id="10" name="Pastille chiffre"/>
          <p:cNvSpPr/>
          <p:nvPr/>
        </p:nvSpPr>
        <p:spPr>
          <a:xfrm>
            <a:off x="7589520" y="5074920"/>
            <a:ext cx="3108960" cy="1005840"/>
          </a:xfrm>
          <a:prstGeom prst="roundRect">
            <a:avLst>
              <a:gd name="adj" fmla="val 7273"/>
            </a:avLst>
          </a:prstGeom>
          <a:solidFill>
            <a:schemeClr val="accent1"/>
          </a:solidFill>
          <a:ln/>
        </p:spPr>
      </p:sp>
      <p:sp>
        <p:nvSpPr>
          <p:cNvPr id="11" name="Chiffre couverture"/>
          <p:cNvSpPr txBox="1"/>
          <p:nvPr/>
        </p:nvSpPr>
        <p:spPr>
          <a:xfrm>
            <a:off x="7818120" y="5138928"/>
            <a:ext cx="2651760" cy="548640"/>
          </a:xfrm>
          <a:prstGeom prst="rect">
            <a:avLst/>
          </a:prstGeom>
          <a:noFill/>
          <a:ln/>
        </p:spPr>
        <p:txBody>
          <a:bodyPr wrap="square" lIns="0" tIns="0" rIns="0" bIns="0" rtlCol="0" anchor="ctr"/>
          <a:lstStyle/>
          <a:p>
            <a:pPr indent="0" marL="0">
              <a:buNone/>
            </a:pPr>
            <a:r>
              <a:rPr lang="en-US" sz="2800" b="1" dirty="0">
                <a:solidFill>
                  <a:schemeClr val="bg1"/>
                </a:solidFill>
              </a:rPr>
              <a:t>+60 k UM</a:t>
            </a:r>
            <a:endParaRPr lang="en-US" sz="2800" dirty="0"/>
          </a:p>
        </p:txBody>
      </p:sp>
      <p:sp>
        <p:nvSpPr>
          <p:cNvPr id="12" name="Légende couverture"/>
          <p:cNvSpPr txBox="1"/>
          <p:nvPr/>
        </p:nvSpPr>
        <p:spPr>
          <a:xfrm>
            <a:off x="7818120" y="5669280"/>
            <a:ext cx="2651760" cy="320040"/>
          </a:xfrm>
          <a:prstGeom prst="rect">
            <a:avLst/>
          </a:prstGeom>
          <a:noFill/>
          <a:ln/>
        </p:spPr>
        <p:txBody>
          <a:bodyPr wrap="square" lIns="0" tIns="0" rIns="0" bIns="0" rtlCol="0" anchor="t"/>
          <a:lstStyle/>
          <a:p>
            <a:pPr indent="0" marL="0">
              <a:buNone/>
            </a:pPr>
            <a:r>
              <a:rPr lang="en-US" sz="1400" dirty="0">
                <a:solidFill>
                  <a:srgbClr val="CADCFC"/>
                </a:solidFill>
              </a:rPr>
              <a:t>Potentiel par semestre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AfriMarket est rentable, mais quatre fuites coûtent ≈ 60 k UM de profit par semestre</a:t>
            </a:r>
            <a:endParaRPr lang="en-US" sz="3400" dirty="0"/>
          </a:p>
        </p:txBody>
      </p:sp>
      <p:sp>
        <p:nvSpPr>
          <p:cNvPr id="3" name="Carte chiffre"/>
          <p:cNvSpPr/>
          <p:nvPr/>
        </p:nvSpPr>
        <p:spPr>
          <a:xfrm>
            <a:off x="548640" y="1783080"/>
            <a:ext cx="3657600" cy="1371600"/>
          </a:xfrm>
          <a:prstGeom prst="roundRect">
            <a:avLst>
              <a:gd name="adj" fmla="val 5333"/>
            </a:avLst>
          </a:prstGeom>
          <a:solidFill>
            <a:schemeClr val="bg2"/>
          </a:solidFill>
          <a:ln/>
        </p:spPr>
      </p:sp>
      <p:sp>
        <p:nvSpPr>
          <p:cNvPr id="4" name="Chiffre clé"/>
          <p:cNvSpPr txBox="1"/>
          <p:nvPr/>
        </p:nvSpPr>
        <p:spPr>
          <a:xfrm>
            <a:off x="822960" y="1911096"/>
            <a:ext cx="3108960" cy="713232"/>
          </a:xfrm>
          <a:prstGeom prst="rect">
            <a:avLst/>
          </a:prstGeom>
          <a:noFill/>
          <a:ln/>
        </p:spPr>
        <p:txBody>
          <a:bodyPr wrap="square" lIns="0" tIns="0" rIns="0" bIns="0" rtlCol="0" anchor="ctr"/>
          <a:lstStyle/>
          <a:p>
            <a:pPr indent="0" marL="0">
              <a:buNone/>
            </a:pPr>
            <a:r>
              <a:rPr lang="en-US" sz="4400" b="1" dirty="0">
                <a:solidFill>
                  <a:schemeClr val="accent1"/>
                </a:solidFill>
              </a:rPr>
              <a:t>2,18 M UM</a:t>
            </a:r>
            <a:endParaRPr lang="en-US" sz="4400" dirty="0"/>
          </a:p>
        </p:txBody>
      </p:sp>
      <p:sp>
        <p:nvSpPr>
          <p:cNvPr id="5" name="Légende chiffre"/>
          <p:cNvSpPr txBox="1"/>
          <p:nvPr/>
        </p:nvSpPr>
        <p:spPr>
          <a:xfrm>
            <a:off x="822960" y="2578608"/>
            <a:ext cx="3108960" cy="493776"/>
          </a:xfrm>
          <a:prstGeom prst="rect">
            <a:avLst/>
          </a:prstGeom>
          <a:noFill/>
          <a:ln/>
        </p:spPr>
        <p:txBody>
          <a:bodyPr wrap="square" lIns="0" tIns="0" rIns="0" bIns="0" rtlCol="0" anchor="t"/>
          <a:lstStyle/>
          <a:p>
            <a:pPr indent="0" marL="0">
              <a:buNone/>
            </a:pPr>
            <a:r>
              <a:rPr lang="en-US" sz="1400" dirty="0">
                <a:solidFill>
                  <a:schemeClr val="tx1"/>
                </a:solidFill>
              </a:rPr>
              <a:t>de CA net sur 6 mois (commandes livrées)</a:t>
            </a:r>
            <a:endParaRPr lang="en-US" sz="1400" dirty="0"/>
          </a:p>
        </p:txBody>
      </p:sp>
      <p:sp>
        <p:nvSpPr>
          <p:cNvPr id="6" name="Carte chiffre"/>
          <p:cNvSpPr/>
          <p:nvPr/>
        </p:nvSpPr>
        <p:spPr>
          <a:xfrm>
            <a:off x="548640" y="3337560"/>
            <a:ext cx="3657600" cy="1371600"/>
          </a:xfrm>
          <a:prstGeom prst="roundRect">
            <a:avLst>
              <a:gd name="adj" fmla="val 5333"/>
            </a:avLst>
          </a:prstGeom>
          <a:solidFill>
            <a:schemeClr val="bg2"/>
          </a:solidFill>
          <a:ln/>
        </p:spPr>
      </p:sp>
      <p:sp>
        <p:nvSpPr>
          <p:cNvPr id="7" name="Chiffre clé"/>
          <p:cNvSpPr txBox="1"/>
          <p:nvPr/>
        </p:nvSpPr>
        <p:spPr>
          <a:xfrm>
            <a:off x="822960" y="3465576"/>
            <a:ext cx="3108960" cy="713232"/>
          </a:xfrm>
          <a:prstGeom prst="rect">
            <a:avLst/>
          </a:prstGeom>
          <a:noFill/>
          <a:ln/>
        </p:spPr>
        <p:txBody>
          <a:bodyPr wrap="square" lIns="0" tIns="0" rIns="0" bIns="0" rtlCol="0" anchor="ctr"/>
          <a:lstStyle/>
          <a:p>
            <a:pPr indent="0" marL="0">
              <a:buNone/>
            </a:pPr>
            <a:r>
              <a:rPr lang="en-US" sz="4400" b="1" dirty="0">
                <a:solidFill>
                  <a:schemeClr val="accent1"/>
                </a:solidFill>
              </a:rPr>
              <a:t>461 k UM</a:t>
            </a:r>
            <a:endParaRPr lang="en-US" sz="4400" dirty="0"/>
          </a:p>
        </p:txBody>
      </p:sp>
      <p:sp>
        <p:nvSpPr>
          <p:cNvPr id="8" name="Légende chiffre"/>
          <p:cNvSpPr txBox="1"/>
          <p:nvPr/>
        </p:nvSpPr>
        <p:spPr>
          <a:xfrm>
            <a:off x="822960" y="4133088"/>
            <a:ext cx="3108960" cy="493776"/>
          </a:xfrm>
          <a:prstGeom prst="rect">
            <a:avLst/>
          </a:prstGeom>
          <a:noFill/>
          <a:ln/>
        </p:spPr>
        <p:txBody>
          <a:bodyPr wrap="square" lIns="0" tIns="0" rIns="0" bIns="0" rtlCol="0" anchor="t"/>
          <a:lstStyle/>
          <a:p>
            <a:pPr indent="0" marL="0">
              <a:buNone/>
            </a:pPr>
            <a:r>
              <a:rPr lang="en-US" sz="1400" dirty="0">
                <a:solidFill>
                  <a:schemeClr val="tx1"/>
                </a:solidFill>
              </a:rPr>
              <a:t>de profit net, soit 21,1 % du CA</a:t>
            </a:r>
            <a:endParaRPr lang="en-US" sz="1400" dirty="0"/>
          </a:p>
        </p:txBody>
      </p:sp>
      <p:sp>
        <p:nvSpPr>
          <p:cNvPr id="9" name="Carte chiffre"/>
          <p:cNvSpPr/>
          <p:nvPr/>
        </p:nvSpPr>
        <p:spPr>
          <a:xfrm>
            <a:off x="548640" y="4892040"/>
            <a:ext cx="3657600" cy="1371600"/>
          </a:xfrm>
          <a:prstGeom prst="roundRect">
            <a:avLst>
              <a:gd name="adj" fmla="val 5333"/>
            </a:avLst>
          </a:prstGeom>
          <a:solidFill>
            <a:schemeClr val="bg2"/>
          </a:solidFill>
          <a:ln/>
        </p:spPr>
      </p:sp>
      <p:sp>
        <p:nvSpPr>
          <p:cNvPr id="10" name="Chiffre clé"/>
          <p:cNvSpPr txBox="1"/>
          <p:nvPr/>
        </p:nvSpPr>
        <p:spPr>
          <a:xfrm>
            <a:off x="822960" y="5020056"/>
            <a:ext cx="3108960" cy="713232"/>
          </a:xfrm>
          <a:prstGeom prst="rect">
            <a:avLst/>
          </a:prstGeom>
          <a:noFill/>
          <a:ln/>
        </p:spPr>
        <p:txBody>
          <a:bodyPr wrap="square" lIns="0" tIns="0" rIns="0" bIns="0" rtlCol="0" anchor="ctr"/>
          <a:lstStyle/>
          <a:p>
            <a:pPr indent="0" marL="0">
              <a:buNone/>
            </a:pPr>
            <a:r>
              <a:rPr lang="en-US" sz="4400" b="1" dirty="0">
                <a:solidFill>
                  <a:schemeClr val="accent6"/>
                </a:solidFill>
              </a:rPr>
              <a:t>+60 k UM</a:t>
            </a:r>
            <a:endParaRPr lang="en-US" sz="4400" dirty="0"/>
          </a:p>
        </p:txBody>
      </p:sp>
      <p:sp>
        <p:nvSpPr>
          <p:cNvPr id="11" name="Légende chiffre"/>
          <p:cNvSpPr txBox="1"/>
          <p:nvPr/>
        </p:nvSpPr>
        <p:spPr>
          <a:xfrm>
            <a:off x="822960" y="5687568"/>
            <a:ext cx="3108960" cy="493776"/>
          </a:xfrm>
          <a:prstGeom prst="rect">
            <a:avLst/>
          </a:prstGeom>
          <a:noFill/>
          <a:ln/>
        </p:spPr>
        <p:txBody>
          <a:bodyPr wrap="square" lIns="0" tIns="0" rIns="0" bIns="0" rtlCol="0" anchor="t"/>
          <a:lstStyle/>
          <a:p>
            <a:pPr indent="0" marL="0">
              <a:buNone/>
            </a:pPr>
            <a:r>
              <a:rPr lang="en-US" sz="1400" dirty="0">
                <a:solidFill>
                  <a:schemeClr val="tx1"/>
                </a:solidFill>
              </a:rPr>
              <a:t>récupérables (+13 %), à budget constant</a:t>
            </a:r>
            <a:endParaRPr lang="en-US" sz="1400" dirty="0"/>
          </a:p>
        </p:txBody>
      </p:sp>
      <p:sp>
        <p:nvSpPr>
          <p:cNvPr id="12" name="Carte fuite"/>
          <p:cNvSpPr/>
          <p:nvPr/>
        </p:nvSpPr>
        <p:spPr>
          <a:xfrm>
            <a:off x="4572000" y="1783080"/>
            <a:ext cx="7068312" cy="1005840"/>
          </a:xfrm>
          <a:prstGeom prst="roundRect">
            <a:avLst>
              <a:gd name="adj" fmla="val 7273"/>
            </a:avLst>
          </a:prstGeom>
          <a:solidFill>
            <a:schemeClr val="bg2"/>
          </a:solidFill>
          <a:ln/>
        </p:spPr>
      </p:sp>
      <p:sp>
        <p:nvSpPr>
          <p:cNvPr id="13" name="Pastille Retours Électronique"/>
          <p:cNvSpPr/>
          <p:nvPr/>
        </p:nvSpPr>
        <p:spPr>
          <a:xfrm>
            <a:off x="4800600" y="1965960"/>
            <a:ext cx="640080" cy="640080"/>
          </a:xfrm>
          <a:prstGeom prst="ellipse">
            <a:avLst/>
          </a:prstGeom>
          <a:solidFill>
            <a:schemeClr val="accent1"/>
          </a:solidFill>
          <a:ln/>
        </p:spPr>
      </p:sp>
      <p:pic>
        <p:nvPicPr>
          <p:cNvPr id="14" name="Icône Retours Électronique" descr="Retours Électronique">    </p:cNvPr>
          <p:cNvPicPr>
            <a:picLocks noChangeAspect="1"/>
          </p:cNvPicPr>
          <p:nvPr/>
        </p:nvPicPr>
        <p:blipFill>
          <a:blip r:embed="rId1"/>
          <a:stretch>
            <a:fillRect/>
          </a:stretch>
        </p:blipFill>
        <p:spPr>
          <a:xfrm>
            <a:off x="4960620" y="2125980"/>
            <a:ext cx="320040" cy="320040"/>
          </a:xfrm>
          <a:prstGeom prst="rect">
            <a:avLst/>
          </a:prstGeom>
        </p:spPr>
      </p:pic>
      <p:sp>
        <p:nvSpPr>
          <p:cNvPr id="15" name="Titre fuite"/>
          <p:cNvSpPr txBox="1"/>
          <p:nvPr/>
        </p:nvSpPr>
        <p:spPr>
          <a:xfrm>
            <a:off x="5669280" y="1911096"/>
            <a:ext cx="5760720" cy="365760"/>
          </a:xfrm>
          <a:prstGeom prst="rect">
            <a:avLst/>
          </a:prstGeom>
          <a:noFill/>
          <a:ln/>
        </p:spPr>
        <p:txBody>
          <a:bodyPr wrap="square" lIns="0" tIns="0" rIns="0" bIns="0" rtlCol="0" anchor="t"/>
          <a:lstStyle/>
          <a:p>
            <a:pPr indent="0" marL="0">
              <a:buNone/>
            </a:pPr>
            <a:r>
              <a:rPr lang="en-US" sz="1800" b="1" dirty="0">
                <a:solidFill>
                  <a:schemeClr val="tx2"/>
                </a:solidFill>
              </a:rPr>
              <a:t>Retours Électronique</a:t>
            </a:r>
            <a:endParaRPr lang="en-US" sz="1800" dirty="0"/>
          </a:p>
        </p:txBody>
      </p:sp>
      <p:sp>
        <p:nvSpPr>
          <p:cNvPr id="16" name="Détail fuite"/>
          <p:cNvSpPr txBox="1"/>
          <p:nvPr/>
        </p:nvSpPr>
        <p:spPr>
          <a:xfrm>
            <a:off x="5669280" y="2286000"/>
            <a:ext cx="5760720" cy="411480"/>
          </a:xfrm>
          <a:prstGeom prst="rect">
            <a:avLst/>
          </a:prstGeom>
          <a:noFill/>
          <a:ln/>
        </p:spPr>
        <p:txBody>
          <a:bodyPr wrap="square" lIns="0" tIns="0" rIns="0" bIns="0" rtlCol="0" anchor="t"/>
          <a:lstStyle/>
          <a:p>
            <a:pPr indent="0" marL="0">
              <a:buNone/>
            </a:pPr>
            <a:r>
              <a:rPr lang="en-US" sz="1400" dirty="0">
                <a:solidFill>
                  <a:schemeClr val="tx1"/>
                </a:solidFill>
              </a:rPr>
              <a:t>15,6 % de retours, soit 282 k UM remboursées</a:t>
            </a:r>
            <a:endParaRPr lang="en-US" sz="1400" dirty="0"/>
          </a:p>
        </p:txBody>
      </p:sp>
      <p:sp>
        <p:nvSpPr>
          <p:cNvPr id="17" name="Carte fuite"/>
          <p:cNvSpPr/>
          <p:nvPr/>
        </p:nvSpPr>
        <p:spPr>
          <a:xfrm>
            <a:off x="4572000" y="2926080"/>
            <a:ext cx="7068312" cy="1005840"/>
          </a:xfrm>
          <a:prstGeom prst="roundRect">
            <a:avLst>
              <a:gd name="adj" fmla="val 7273"/>
            </a:avLst>
          </a:prstGeom>
          <a:solidFill>
            <a:schemeClr val="bg2"/>
          </a:solidFill>
          <a:ln/>
        </p:spPr>
      </p:sp>
      <p:sp>
        <p:nvSpPr>
          <p:cNvPr id="18" name="Pastille Annulations à Douala"/>
          <p:cNvSpPr/>
          <p:nvPr/>
        </p:nvSpPr>
        <p:spPr>
          <a:xfrm>
            <a:off x="4800600" y="3108960"/>
            <a:ext cx="640080" cy="640080"/>
          </a:xfrm>
          <a:prstGeom prst="ellipse">
            <a:avLst/>
          </a:prstGeom>
          <a:solidFill>
            <a:schemeClr val="accent6"/>
          </a:solidFill>
          <a:ln/>
        </p:spPr>
      </p:sp>
      <p:pic>
        <p:nvPicPr>
          <p:cNvPr id="19" name="Icône Annulations à Douala" descr="Annulations à Douala">    </p:cNvPr>
          <p:cNvPicPr>
            <a:picLocks noChangeAspect="1"/>
          </p:cNvPicPr>
          <p:nvPr/>
        </p:nvPicPr>
        <p:blipFill>
          <a:blip r:embed="rId2"/>
          <a:stretch>
            <a:fillRect/>
          </a:stretch>
        </p:blipFill>
        <p:spPr>
          <a:xfrm>
            <a:off x="4960620" y="3268980"/>
            <a:ext cx="320040" cy="320040"/>
          </a:xfrm>
          <a:prstGeom prst="rect">
            <a:avLst/>
          </a:prstGeom>
        </p:spPr>
      </p:pic>
      <p:sp>
        <p:nvSpPr>
          <p:cNvPr id="20" name="Titre fuite"/>
          <p:cNvSpPr txBox="1"/>
          <p:nvPr/>
        </p:nvSpPr>
        <p:spPr>
          <a:xfrm>
            <a:off x="5669280" y="3054096"/>
            <a:ext cx="5760720" cy="365760"/>
          </a:xfrm>
          <a:prstGeom prst="rect">
            <a:avLst/>
          </a:prstGeom>
          <a:noFill/>
          <a:ln/>
        </p:spPr>
        <p:txBody>
          <a:bodyPr wrap="square" lIns="0" tIns="0" rIns="0" bIns="0" rtlCol="0" anchor="t"/>
          <a:lstStyle/>
          <a:p>
            <a:pPr indent="0" marL="0">
              <a:buNone/>
            </a:pPr>
            <a:r>
              <a:rPr lang="en-US" sz="1800" b="1" dirty="0">
                <a:solidFill>
                  <a:schemeClr val="tx2"/>
                </a:solidFill>
              </a:rPr>
              <a:t>Annulations à Douala</a:t>
            </a:r>
            <a:endParaRPr lang="en-US" sz="1800" dirty="0"/>
          </a:p>
        </p:txBody>
      </p:sp>
      <p:sp>
        <p:nvSpPr>
          <p:cNvPr id="21" name="Détail fuite"/>
          <p:cNvSpPr txBox="1"/>
          <p:nvPr/>
        </p:nvSpPr>
        <p:spPr>
          <a:xfrm>
            <a:off x="5669280" y="3429000"/>
            <a:ext cx="5760720" cy="411480"/>
          </a:xfrm>
          <a:prstGeom prst="rect">
            <a:avLst/>
          </a:prstGeom>
          <a:noFill/>
          <a:ln/>
        </p:spPr>
        <p:txBody>
          <a:bodyPr wrap="square" lIns="0" tIns="0" rIns="0" bIns="0" rtlCol="0" anchor="t"/>
          <a:lstStyle/>
          <a:p>
            <a:pPr indent="0" marL="0">
              <a:buNone/>
            </a:pPr>
            <a:r>
              <a:rPr lang="en-US" sz="1400" dirty="0">
                <a:solidFill>
                  <a:schemeClr val="tx1"/>
                </a:solidFill>
              </a:rPr>
              <a:t>12,9 % d'annulations contre 0,1 % dans les autres villes</a:t>
            </a:r>
            <a:endParaRPr lang="en-US" sz="1400" dirty="0"/>
          </a:p>
        </p:txBody>
      </p:sp>
      <p:sp>
        <p:nvSpPr>
          <p:cNvPr id="22" name="Carte fuite"/>
          <p:cNvSpPr/>
          <p:nvPr/>
        </p:nvSpPr>
        <p:spPr>
          <a:xfrm>
            <a:off x="4572000" y="4069080"/>
            <a:ext cx="7068312" cy="1005840"/>
          </a:xfrm>
          <a:prstGeom prst="roundRect">
            <a:avLst>
              <a:gd name="adj" fmla="val 7273"/>
            </a:avLst>
          </a:prstGeom>
          <a:solidFill>
            <a:schemeClr val="bg2"/>
          </a:solidFill>
          <a:ln/>
        </p:spPr>
      </p:sp>
      <p:sp>
        <p:nvSpPr>
          <p:cNvPr id="23" name="Pastille Budget marketing mal réparti"/>
          <p:cNvSpPr/>
          <p:nvPr/>
        </p:nvSpPr>
        <p:spPr>
          <a:xfrm>
            <a:off x="4800600" y="4251960"/>
            <a:ext cx="640080" cy="640080"/>
          </a:xfrm>
          <a:prstGeom prst="ellipse">
            <a:avLst/>
          </a:prstGeom>
          <a:solidFill>
            <a:schemeClr val="accent1"/>
          </a:solidFill>
          <a:ln/>
        </p:spPr>
      </p:sp>
      <p:pic>
        <p:nvPicPr>
          <p:cNvPr id="24" name="Icône Budget marketing mal réparti" descr="Budget marketing mal réparti">    </p:cNvPr>
          <p:cNvPicPr>
            <a:picLocks noChangeAspect="1"/>
          </p:cNvPicPr>
          <p:nvPr/>
        </p:nvPicPr>
        <p:blipFill>
          <a:blip r:embed="rId3"/>
          <a:stretch>
            <a:fillRect/>
          </a:stretch>
        </p:blipFill>
        <p:spPr>
          <a:xfrm>
            <a:off x="4960620" y="4411980"/>
            <a:ext cx="320040" cy="320040"/>
          </a:xfrm>
          <a:prstGeom prst="rect">
            <a:avLst/>
          </a:prstGeom>
        </p:spPr>
      </p:pic>
      <p:sp>
        <p:nvSpPr>
          <p:cNvPr id="25" name="Titre fuite"/>
          <p:cNvSpPr txBox="1"/>
          <p:nvPr/>
        </p:nvSpPr>
        <p:spPr>
          <a:xfrm>
            <a:off x="5669280" y="4197096"/>
            <a:ext cx="5760720" cy="365760"/>
          </a:xfrm>
          <a:prstGeom prst="rect">
            <a:avLst/>
          </a:prstGeom>
          <a:noFill/>
          <a:ln/>
        </p:spPr>
        <p:txBody>
          <a:bodyPr wrap="square" lIns="0" tIns="0" rIns="0" bIns="0" rtlCol="0" anchor="t"/>
          <a:lstStyle/>
          <a:p>
            <a:pPr indent="0" marL="0">
              <a:buNone/>
            </a:pPr>
            <a:r>
              <a:rPr lang="en-US" sz="1800" b="1" dirty="0">
                <a:solidFill>
                  <a:schemeClr val="tx2"/>
                </a:solidFill>
              </a:rPr>
              <a:t>Budget marketing mal réparti</a:t>
            </a:r>
            <a:endParaRPr lang="en-US" sz="1800" dirty="0"/>
          </a:p>
        </p:txBody>
      </p:sp>
      <p:sp>
        <p:nvSpPr>
          <p:cNvPr id="26" name="Détail fuite"/>
          <p:cNvSpPr txBox="1"/>
          <p:nvPr/>
        </p:nvSpPr>
        <p:spPr>
          <a:xfrm>
            <a:off x="5669280" y="4572000"/>
            <a:ext cx="5760720" cy="411480"/>
          </a:xfrm>
          <a:prstGeom prst="rect">
            <a:avLst/>
          </a:prstGeom>
          <a:noFill/>
          <a:ln/>
        </p:spPr>
        <p:txBody>
          <a:bodyPr wrap="square" lIns="0" tIns="0" rIns="0" bIns="0" rtlCol="0" anchor="t"/>
          <a:lstStyle/>
          <a:p>
            <a:pPr indent="0" marL="0">
              <a:buNone/>
            </a:pPr>
            <a:r>
              <a:rPr lang="en-US" sz="1400" dirty="0">
                <a:solidFill>
                  <a:schemeClr val="tx1"/>
                </a:solidFill>
              </a:rPr>
              <a:t>Instagram : 54 % du budget pour 25 % du profit</a:t>
            </a:r>
            <a:endParaRPr lang="en-US" sz="1400" dirty="0"/>
          </a:p>
        </p:txBody>
      </p:sp>
      <p:sp>
        <p:nvSpPr>
          <p:cNvPr id="27" name="Carte fuite"/>
          <p:cNvSpPr/>
          <p:nvPr/>
        </p:nvSpPr>
        <p:spPr>
          <a:xfrm>
            <a:off x="4572000" y="5212080"/>
            <a:ext cx="7068312" cy="1005840"/>
          </a:xfrm>
          <a:prstGeom prst="roundRect">
            <a:avLst>
              <a:gd name="adj" fmla="val 7273"/>
            </a:avLst>
          </a:prstGeom>
          <a:solidFill>
            <a:schemeClr val="bg2"/>
          </a:solidFill>
          <a:ln/>
        </p:spPr>
      </p:sp>
      <p:sp>
        <p:nvSpPr>
          <p:cNvPr id="28" name="Pastille Rétention à renforcer"/>
          <p:cNvSpPr/>
          <p:nvPr/>
        </p:nvSpPr>
        <p:spPr>
          <a:xfrm>
            <a:off x="4800600" y="5394960"/>
            <a:ext cx="640080" cy="640080"/>
          </a:xfrm>
          <a:prstGeom prst="ellipse">
            <a:avLst/>
          </a:prstGeom>
          <a:solidFill>
            <a:schemeClr val="accent1"/>
          </a:solidFill>
          <a:ln/>
        </p:spPr>
      </p:sp>
      <p:pic>
        <p:nvPicPr>
          <p:cNvPr id="29" name="Icône Rétention à renforcer" descr="Rétention à renforcer">    </p:cNvPr>
          <p:cNvPicPr>
            <a:picLocks noChangeAspect="1"/>
          </p:cNvPicPr>
          <p:nvPr/>
        </p:nvPicPr>
        <p:blipFill>
          <a:blip r:embed="rId4"/>
          <a:stretch>
            <a:fillRect/>
          </a:stretch>
        </p:blipFill>
        <p:spPr>
          <a:xfrm>
            <a:off x="4960620" y="5554980"/>
            <a:ext cx="320040" cy="320040"/>
          </a:xfrm>
          <a:prstGeom prst="rect">
            <a:avLst/>
          </a:prstGeom>
        </p:spPr>
      </p:pic>
      <p:sp>
        <p:nvSpPr>
          <p:cNvPr id="30" name="Titre fuite"/>
          <p:cNvSpPr txBox="1"/>
          <p:nvPr/>
        </p:nvSpPr>
        <p:spPr>
          <a:xfrm>
            <a:off x="5669280" y="5340096"/>
            <a:ext cx="5760720" cy="365760"/>
          </a:xfrm>
          <a:prstGeom prst="rect">
            <a:avLst/>
          </a:prstGeom>
          <a:noFill/>
          <a:ln/>
        </p:spPr>
        <p:txBody>
          <a:bodyPr wrap="square" lIns="0" tIns="0" rIns="0" bIns="0" rtlCol="0" anchor="t"/>
          <a:lstStyle/>
          <a:p>
            <a:pPr indent="0" marL="0">
              <a:buNone/>
            </a:pPr>
            <a:r>
              <a:rPr lang="en-US" sz="1800" b="1" dirty="0">
                <a:solidFill>
                  <a:schemeClr val="tx2"/>
                </a:solidFill>
              </a:rPr>
              <a:t>Rétention à renforcer</a:t>
            </a:r>
            <a:endParaRPr lang="en-US" sz="1800" dirty="0"/>
          </a:p>
        </p:txBody>
      </p:sp>
      <p:sp>
        <p:nvSpPr>
          <p:cNvPr id="31" name="Détail fuite"/>
          <p:cNvSpPr txBox="1"/>
          <p:nvPr/>
        </p:nvSpPr>
        <p:spPr>
          <a:xfrm>
            <a:off x="5669280" y="5715000"/>
            <a:ext cx="5760720" cy="411480"/>
          </a:xfrm>
          <a:prstGeom prst="rect">
            <a:avLst/>
          </a:prstGeom>
          <a:noFill/>
          <a:ln/>
        </p:spPr>
        <p:txBody>
          <a:bodyPr wrap="square" lIns="0" tIns="0" rIns="0" bIns="0" rtlCol="0" anchor="t"/>
          <a:lstStyle/>
          <a:p>
            <a:pPr indent="0" marL="0">
              <a:buNone/>
            </a:pPr>
            <a:r>
              <a:rPr lang="en-US" sz="1400" dirty="0">
                <a:solidFill>
                  <a:schemeClr val="tx1"/>
                </a:solidFill>
              </a:rPr>
              <a:t>465 clients à un seul achat, 130 clients récurrents qui décrochent</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436 produits étaient classés à tort en « Électronique » : sans correction, toute l'analyse était faussée</a:t>
            </a:r>
            <a:endParaRPr lang="en-US" sz="3400" dirty="0"/>
          </a:p>
        </p:txBody>
      </p:sp>
      <p:graphicFrame>
        <p:nvGraphicFramePr>
          <p:cNvPr id="3" name="Graphique anomalies" descr=""/>
          <p:cNvGraphicFramePr/>
          <p:nvPr/>
        </p:nvGraphicFramePr>
        <p:xfrm>
          <a:off x="548640" y="1737360"/>
          <a:ext cx="6583680" cy="4526280"/>
        </p:xfrm>
        <a:graphic xmlns:a="http://schemas.openxmlformats.org/drawingml/2006/main">
          <a:graphicData uri="http://schemas.openxmlformats.org/drawingml/2006/chart">
            <c:chart xmlns:c="http://schemas.openxmlformats.org/drawingml/2006/chart" r:id="rId1"/>
          </a:graphicData>
        </a:graphic>
      </p:graphicFrame>
      <p:sp>
        <p:nvSpPr>
          <p:cNvPr id="4" name="Carte alerte catégorie"/>
          <p:cNvSpPr/>
          <p:nvPr/>
        </p:nvSpPr>
        <p:spPr>
          <a:xfrm>
            <a:off x="7406640" y="1783080"/>
            <a:ext cx="4233672" cy="2331720"/>
          </a:xfrm>
          <a:prstGeom prst="roundRect">
            <a:avLst>
              <a:gd name="adj" fmla="val 3137"/>
            </a:avLst>
          </a:prstGeom>
          <a:solidFill>
            <a:schemeClr val="bg2"/>
          </a:solidFill>
          <a:ln/>
        </p:spPr>
      </p:sp>
      <p:sp>
        <p:nvSpPr>
          <p:cNvPr id="5" name="Chiffre piège"/>
          <p:cNvSpPr txBox="1"/>
          <p:nvPr/>
        </p:nvSpPr>
        <p:spPr>
          <a:xfrm>
            <a:off x="7680960" y="1874520"/>
            <a:ext cx="3749040" cy="822960"/>
          </a:xfrm>
          <a:prstGeom prst="rect">
            <a:avLst/>
          </a:prstGeom>
          <a:noFill/>
          <a:ln/>
        </p:spPr>
        <p:txBody>
          <a:bodyPr wrap="square" lIns="0" tIns="0" rIns="0" bIns="0" rtlCol="0" anchor="ctr"/>
          <a:lstStyle/>
          <a:p>
            <a:pPr indent="0" marL="0">
              <a:buNone/>
            </a:pPr>
            <a:r>
              <a:rPr lang="en-US" sz="5000" b="1" dirty="0">
                <a:solidFill>
                  <a:schemeClr val="accent6"/>
                </a:solidFill>
              </a:rPr>
              <a:t>436 / 600</a:t>
            </a:r>
            <a:endParaRPr lang="en-US" sz="5000" dirty="0"/>
          </a:p>
        </p:txBody>
      </p:sp>
      <p:sp>
        <p:nvSpPr>
          <p:cNvPr id="6" name="Explication piège"/>
          <p:cNvSpPr txBox="1"/>
          <p:nvPr/>
        </p:nvSpPr>
        <p:spPr>
          <a:xfrm>
            <a:off x="7680960" y="2743200"/>
            <a:ext cx="3749040" cy="1280160"/>
          </a:xfrm>
          <a:prstGeom prst="rect">
            <a:avLst/>
          </a:prstGeom>
          <a:noFill/>
          <a:ln/>
        </p:spPr>
        <p:txBody>
          <a:bodyPr wrap="square" lIns="0" tIns="0" rIns="0" bIns="0" rtlCol="0" anchor="t"/>
          <a:lstStyle/>
          <a:p>
            <a:pPr indent="0" marL="0">
              <a:buNone/>
            </a:pPr>
            <a:r>
              <a:rPr lang="en-US" sz="1400" dirty="0">
                <a:solidFill>
                  <a:schemeClr val="tx1"/>
                </a:solidFill>
              </a:rPr>
              <a:t>lignes « electronique » étaient en réalité des produits Beauté, Mode ou Maison (le nom du produit et son prix le prouvent).</a:t>
            </a:r>
            <a:endParaRPr lang="en-US" sz="1400" dirty="0"/>
          </a:p>
        </p:txBody>
      </p:sp>
      <p:sp>
        <p:nvSpPr>
          <p:cNvPr id="7" name="Carte résultat"/>
          <p:cNvSpPr/>
          <p:nvPr/>
        </p:nvSpPr>
        <p:spPr>
          <a:xfrm>
            <a:off x="7406640" y="4297680"/>
            <a:ext cx="4233672" cy="1965960"/>
          </a:xfrm>
          <a:prstGeom prst="roundRect">
            <a:avLst>
              <a:gd name="adj" fmla="val 3721"/>
            </a:avLst>
          </a:prstGeom>
          <a:solidFill>
            <a:schemeClr val="bg2"/>
          </a:solidFill>
          <a:ln/>
        </p:spPr>
      </p:sp>
      <p:sp>
        <p:nvSpPr>
          <p:cNvPr id="8" name="Texte résultat"/>
          <p:cNvSpPr txBox="1"/>
          <p:nvPr/>
        </p:nvSpPr>
        <p:spPr>
          <a:xfrm>
            <a:off x="7680960" y="4434840"/>
            <a:ext cx="3749040" cy="1691640"/>
          </a:xfrm>
          <a:prstGeom prst="rect">
            <a:avLst/>
          </a:prstGeom>
          <a:noFill/>
          <a:ln/>
        </p:spPr>
        <p:txBody>
          <a:bodyPr wrap="square" lIns="0" tIns="0" rIns="0" bIns="0" rtlCol="0" anchor="t"/>
          <a:lstStyle/>
          <a:p>
            <a:pPr indent="0" marL="0">
              <a:buNone/>
            </a:pPr>
            <a:r>
              <a:rPr lang="en-US" sz="1800" b="1" dirty="0">
                <a:solidFill>
                  <a:schemeClr val="tx2"/>
                </a:solidFill>
              </a:rPr>
              <a:t>9 400 commandes propres</a:t>
            </a:r>
            <a:endParaRPr lang="en-US" sz="1800" dirty="0"/>
          </a:p>
          <a:p>
            <a:pPr indent="0" marL="0">
              <a:buNone/>
            </a:pPr>
            <a:r>
              <a:rPr lang="en-US" sz="1400" dirty="0">
                <a:solidFill>
                  <a:schemeClr val="tx1"/>
                </a:solidFill>
              </a:rPr>
              <a:t>11 contrôles de qualité réussis. Les conclusions restent identiques si le coût d'achat varie de ±10 points.</a:t>
            </a:r>
            <a:endParaRPr lang="en-US" sz="18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Activité stable, avec un record en décembre (+23 % sur novembre)</a:t>
            </a:r>
            <a:endParaRPr lang="en-US" sz="3400" dirty="0"/>
          </a:p>
        </p:txBody>
      </p:sp>
      <p:graphicFrame>
        <p:nvGraphicFramePr>
          <p:cNvPr id="3" name="Graphique mensuel" descr=""/>
          <p:cNvGraphicFramePr/>
          <p:nvPr/>
        </p:nvGraphicFramePr>
        <p:xfrm>
          <a:off x="548640" y="1737360"/>
          <a:ext cx="7498080" cy="4526280"/>
        </p:xfrm>
        <a:graphic xmlns:a="http://schemas.openxmlformats.org/drawingml/2006/main">
          <a:graphicData uri="http://schemas.openxmlformats.org/drawingml/2006/chart">
            <c:chart xmlns:c="http://schemas.openxmlformats.org/drawingml/2006/chart" r:id="rId1"/>
          </a:graphicData>
        </a:graphic>
      </p:graphicFrame>
      <p:sp>
        <p:nvSpPr>
          <p:cNvPr id="4" name="Carte chiffre"/>
          <p:cNvSpPr/>
          <p:nvPr/>
        </p:nvSpPr>
        <p:spPr>
          <a:xfrm>
            <a:off x="8366760" y="1783080"/>
            <a:ext cx="3273552" cy="1371600"/>
          </a:xfrm>
          <a:prstGeom prst="roundRect">
            <a:avLst>
              <a:gd name="adj" fmla="val 5333"/>
            </a:avLst>
          </a:prstGeom>
          <a:solidFill>
            <a:schemeClr val="bg2"/>
          </a:solidFill>
          <a:ln/>
        </p:spPr>
      </p:sp>
      <p:sp>
        <p:nvSpPr>
          <p:cNvPr id="5" name="Chiffre clé"/>
          <p:cNvSpPr txBox="1"/>
          <p:nvPr/>
        </p:nvSpPr>
        <p:spPr>
          <a:xfrm>
            <a:off x="8641080" y="1911096"/>
            <a:ext cx="2724912" cy="713232"/>
          </a:xfrm>
          <a:prstGeom prst="rect">
            <a:avLst/>
          </a:prstGeom>
          <a:noFill/>
          <a:ln/>
        </p:spPr>
        <p:txBody>
          <a:bodyPr wrap="square" lIns="0" tIns="0" rIns="0" bIns="0" rtlCol="0" anchor="ctr"/>
          <a:lstStyle/>
          <a:p>
            <a:pPr indent="0" marL="0">
              <a:buNone/>
            </a:pPr>
            <a:r>
              <a:rPr lang="en-US" sz="4400" b="1" dirty="0">
                <a:solidFill>
                  <a:schemeClr val="accent1"/>
                </a:solidFill>
              </a:rPr>
              <a:t>258 UM</a:t>
            </a:r>
            <a:endParaRPr lang="en-US" sz="4400" dirty="0"/>
          </a:p>
        </p:txBody>
      </p:sp>
      <p:sp>
        <p:nvSpPr>
          <p:cNvPr id="6" name="Légende chiffre"/>
          <p:cNvSpPr txBox="1"/>
          <p:nvPr/>
        </p:nvSpPr>
        <p:spPr>
          <a:xfrm>
            <a:off x="8641080" y="2578608"/>
            <a:ext cx="2724912" cy="493776"/>
          </a:xfrm>
          <a:prstGeom prst="rect">
            <a:avLst/>
          </a:prstGeom>
          <a:noFill/>
          <a:ln/>
        </p:spPr>
        <p:txBody>
          <a:bodyPr wrap="square" lIns="0" tIns="0" rIns="0" bIns="0" rtlCol="0" anchor="t"/>
          <a:lstStyle/>
          <a:p>
            <a:pPr indent="0" marL="0">
              <a:buNone/>
            </a:pPr>
            <a:r>
              <a:rPr lang="en-US" sz="1400" dirty="0">
                <a:solidFill>
                  <a:schemeClr val="tx1"/>
                </a:solidFill>
              </a:rPr>
              <a:t>panier moyen par commande livrée</a:t>
            </a:r>
            <a:endParaRPr lang="en-US" sz="1400" dirty="0"/>
          </a:p>
        </p:txBody>
      </p:sp>
      <p:sp>
        <p:nvSpPr>
          <p:cNvPr id="7" name="Carte chiffre"/>
          <p:cNvSpPr/>
          <p:nvPr/>
        </p:nvSpPr>
        <p:spPr>
          <a:xfrm>
            <a:off x="8366760" y="3337560"/>
            <a:ext cx="3273552" cy="1371600"/>
          </a:xfrm>
          <a:prstGeom prst="roundRect">
            <a:avLst>
              <a:gd name="adj" fmla="val 5333"/>
            </a:avLst>
          </a:prstGeom>
          <a:solidFill>
            <a:schemeClr val="bg2"/>
          </a:solidFill>
          <a:ln/>
        </p:spPr>
      </p:sp>
      <p:sp>
        <p:nvSpPr>
          <p:cNvPr id="8" name="Chiffre clé"/>
          <p:cNvSpPr txBox="1"/>
          <p:nvPr/>
        </p:nvSpPr>
        <p:spPr>
          <a:xfrm>
            <a:off x="8641080" y="3465576"/>
            <a:ext cx="2724912" cy="713232"/>
          </a:xfrm>
          <a:prstGeom prst="rect">
            <a:avLst/>
          </a:prstGeom>
          <a:noFill/>
          <a:ln/>
        </p:spPr>
        <p:txBody>
          <a:bodyPr wrap="square" lIns="0" tIns="0" rIns="0" bIns="0" rtlCol="0" anchor="ctr"/>
          <a:lstStyle/>
          <a:p>
            <a:pPr indent="0" marL="0">
              <a:buNone/>
            </a:pPr>
            <a:r>
              <a:rPr lang="en-US" sz="4400" b="1" dirty="0">
                <a:solidFill>
                  <a:schemeClr val="accent1"/>
                </a:solidFill>
              </a:rPr>
              <a:t>21,1 %</a:t>
            </a:r>
            <a:endParaRPr lang="en-US" sz="4400" dirty="0"/>
          </a:p>
        </p:txBody>
      </p:sp>
      <p:sp>
        <p:nvSpPr>
          <p:cNvPr id="9" name="Légende chiffre"/>
          <p:cNvSpPr txBox="1"/>
          <p:nvPr/>
        </p:nvSpPr>
        <p:spPr>
          <a:xfrm>
            <a:off x="8641080" y="4133088"/>
            <a:ext cx="2724912" cy="493776"/>
          </a:xfrm>
          <a:prstGeom prst="rect">
            <a:avLst/>
          </a:prstGeom>
          <a:noFill/>
          <a:ln/>
        </p:spPr>
        <p:txBody>
          <a:bodyPr wrap="square" lIns="0" tIns="0" rIns="0" bIns="0" rtlCol="0" anchor="t"/>
          <a:lstStyle/>
          <a:p>
            <a:pPr indent="0" marL="0">
              <a:buNone/>
            </a:pPr>
            <a:r>
              <a:rPr lang="en-US" sz="1400" dirty="0">
                <a:solidFill>
                  <a:schemeClr val="tx1"/>
                </a:solidFill>
              </a:rPr>
              <a:t>du CA devient du profit net</a:t>
            </a:r>
            <a:endParaRPr lang="en-US" sz="1400" dirty="0"/>
          </a:p>
        </p:txBody>
      </p:sp>
      <p:sp>
        <p:nvSpPr>
          <p:cNvPr id="10" name="Carte chiffre"/>
          <p:cNvSpPr/>
          <p:nvPr/>
        </p:nvSpPr>
        <p:spPr>
          <a:xfrm>
            <a:off x="8366760" y="4892040"/>
            <a:ext cx="3273552" cy="1371600"/>
          </a:xfrm>
          <a:prstGeom prst="roundRect">
            <a:avLst>
              <a:gd name="adj" fmla="val 5333"/>
            </a:avLst>
          </a:prstGeom>
          <a:solidFill>
            <a:schemeClr val="bg2"/>
          </a:solidFill>
          <a:ln/>
        </p:spPr>
      </p:sp>
      <p:sp>
        <p:nvSpPr>
          <p:cNvPr id="11" name="Chiffre clé"/>
          <p:cNvSpPr txBox="1"/>
          <p:nvPr/>
        </p:nvSpPr>
        <p:spPr>
          <a:xfrm>
            <a:off x="8641080" y="5020056"/>
            <a:ext cx="2724912" cy="713232"/>
          </a:xfrm>
          <a:prstGeom prst="rect">
            <a:avLst/>
          </a:prstGeom>
          <a:noFill/>
          <a:ln/>
        </p:spPr>
        <p:txBody>
          <a:bodyPr wrap="square" lIns="0" tIns="0" rIns="0" bIns="0" rtlCol="0" anchor="ctr"/>
          <a:lstStyle/>
          <a:p>
            <a:pPr indent="0" marL="0">
              <a:buNone/>
            </a:pPr>
            <a:r>
              <a:rPr lang="en-US" sz="4400" b="1" dirty="0">
                <a:solidFill>
                  <a:schemeClr val="accent1"/>
                </a:solidFill>
              </a:rPr>
              <a:t>3,2 %</a:t>
            </a:r>
            <a:endParaRPr lang="en-US" sz="4400" dirty="0"/>
          </a:p>
        </p:txBody>
      </p:sp>
      <p:sp>
        <p:nvSpPr>
          <p:cNvPr id="12" name="Légende chiffre"/>
          <p:cNvSpPr txBox="1"/>
          <p:nvPr/>
        </p:nvSpPr>
        <p:spPr>
          <a:xfrm>
            <a:off x="8641080" y="5687568"/>
            <a:ext cx="2724912" cy="493776"/>
          </a:xfrm>
          <a:prstGeom prst="rect">
            <a:avLst/>
          </a:prstGeom>
          <a:noFill/>
          <a:ln/>
        </p:spPr>
        <p:txBody>
          <a:bodyPr wrap="square" lIns="0" tIns="0" rIns="0" bIns="0" rtlCol="0" anchor="t"/>
          <a:lstStyle/>
          <a:p>
            <a:pPr indent="0" marL="0">
              <a:buNone/>
            </a:pPr>
            <a:r>
              <a:rPr lang="en-US" sz="1400" dirty="0">
                <a:solidFill>
                  <a:schemeClr val="tx1"/>
                </a:solidFill>
              </a:rPr>
              <a:t>du CA dépensé en marketing</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Les retours font disparaître 319 k UM de CA, six fois plus que les annulations</a:t>
            </a:r>
            <a:endParaRPr lang="en-US" sz="3400" dirty="0"/>
          </a:p>
        </p:txBody>
      </p:sp>
      <p:graphicFrame>
        <p:nvGraphicFramePr>
          <p:cNvPr id="3" name="Cascade profit" descr=""/>
          <p:cNvGraphicFramePr/>
          <p:nvPr/>
        </p:nvGraphicFramePr>
        <p:xfrm>
          <a:off x="548640" y="1737360"/>
          <a:ext cx="7863840" cy="4526280"/>
        </p:xfrm>
        <a:graphic xmlns:a="http://schemas.openxmlformats.org/drawingml/2006/main">
          <a:graphicData uri="http://schemas.openxmlformats.org/drawingml/2006/chart">
            <c:chart xmlns:c="http://schemas.openxmlformats.org/drawingml/2006/chart" r:id="rId1"/>
          </a:graphicData>
        </a:graphic>
      </p:graphicFrame>
      <p:sp>
        <p:nvSpPr>
          <p:cNvPr id="4" name="Carte chiffre"/>
          <p:cNvSpPr/>
          <p:nvPr/>
        </p:nvSpPr>
        <p:spPr>
          <a:xfrm>
            <a:off x="8686800" y="1783080"/>
            <a:ext cx="2953512" cy="2057400"/>
          </a:xfrm>
          <a:prstGeom prst="roundRect">
            <a:avLst>
              <a:gd name="adj" fmla="val 3556"/>
            </a:avLst>
          </a:prstGeom>
          <a:solidFill>
            <a:schemeClr val="bg2"/>
          </a:solidFill>
          <a:ln/>
        </p:spPr>
      </p:sp>
      <p:sp>
        <p:nvSpPr>
          <p:cNvPr id="5" name="Chiffre clé"/>
          <p:cNvSpPr txBox="1"/>
          <p:nvPr/>
        </p:nvSpPr>
        <p:spPr>
          <a:xfrm>
            <a:off x="8961120" y="1911096"/>
            <a:ext cx="2404872" cy="1069848"/>
          </a:xfrm>
          <a:prstGeom prst="rect">
            <a:avLst/>
          </a:prstGeom>
          <a:noFill/>
          <a:ln/>
        </p:spPr>
        <p:txBody>
          <a:bodyPr wrap="square" lIns="0" tIns="0" rIns="0" bIns="0" rtlCol="0" anchor="ctr"/>
          <a:lstStyle/>
          <a:p>
            <a:pPr indent="0" marL="0">
              <a:buNone/>
            </a:pPr>
            <a:r>
              <a:rPr lang="en-US" sz="4000" b="1" dirty="0">
                <a:solidFill>
                  <a:schemeClr val="accent6"/>
                </a:solidFill>
              </a:rPr>
              <a:t>−319 k</a:t>
            </a:r>
            <a:endParaRPr lang="en-US" sz="4000" dirty="0"/>
          </a:p>
        </p:txBody>
      </p:sp>
      <p:sp>
        <p:nvSpPr>
          <p:cNvPr id="6" name="Légende chiffre"/>
          <p:cNvSpPr txBox="1"/>
          <p:nvPr/>
        </p:nvSpPr>
        <p:spPr>
          <a:xfrm>
            <a:off x="8961120" y="2976372"/>
            <a:ext cx="2404872" cy="740664"/>
          </a:xfrm>
          <a:prstGeom prst="rect">
            <a:avLst/>
          </a:prstGeom>
          <a:noFill/>
          <a:ln/>
        </p:spPr>
        <p:txBody>
          <a:bodyPr wrap="square" lIns="0" tIns="0" rIns="0" bIns="0" rtlCol="0" anchor="t"/>
          <a:lstStyle/>
          <a:p>
            <a:pPr indent="0" marL="0">
              <a:buNone/>
            </a:pPr>
            <a:r>
              <a:rPr lang="en-US" sz="1400" dirty="0">
                <a:solidFill>
                  <a:schemeClr val="tx1"/>
                </a:solidFill>
              </a:rPr>
              <a:t>de retours remboursés, contre −50 k d'annulations</a:t>
            </a:r>
            <a:endParaRPr lang="en-US" sz="1400" dirty="0"/>
          </a:p>
        </p:txBody>
      </p:sp>
      <p:sp>
        <p:nvSpPr>
          <p:cNvPr id="7" name="Carte chiffre"/>
          <p:cNvSpPr/>
          <p:nvPr/>
        </p:nvSpPr>
        <p:spPr>
          <a:xfrm>
            <a:off x="8686800" y="4023360"/>
            <a:ext cx="2953512" cy="2057400"/>
          </a:xfrm>
          <a:prstGeom prst="roundRect">
            <a:avLst>
              <a:gd name="adj" fmla="val 3556"/>
            </a:avLst>
          </a:prstGeom>
          <a:solidFill>
            <a:schemeClr val="bg2"/>
          </a:solidFill>
          <a:ln/>
        </p:spPr>
      </p:sp>
      <p:sp>
        <p:nvSpPr>
          <p:cNvPr id="8" name="Chiffre clé"/>
          <p:cNvSpPr txBox="1"/>
          <p:nvPr/>
        </p:nvSpPr>
        <p:spPr>
          <a:xfrm>
            <a:off x="8961120" y="4151376"/>
            <a:ext cx="2404872" cy="1069848"/>
          </a:xfrm>
          <a:prstGeom prst="rect">
            <a:avLst/>
          </a:prstGeom>
          <a:noFill/>
          <a:ln/>
        </p:spPr>
        <p:txBody>
          <a:bodyPr wrap="square" lIns="0" tIns="0" rIns="0" bIns="0" rtlCol="0" anchor="ctr"/>
          <a:lstStyle/>
          <a:p>
            <a:pPr indent="0" marL="0">
              <a:buNone/>
            </a:pPr>
            <a:r>
              <a:rPr lang="en-US" sz="4000" b="1" dirty="0">
                <a:solidFill>
                  <a:schemeClr val="accent1"/>
                </a:solidFill>
              </a:rPr>
              <a:t>461 k</a:t>
            </a:r>
            <a:endParaRPr lang="en-US" sz="4000" dirty="0"/>
          </a:p>
        </p:txBody>
      </p:sp>
      <p:sp>
        <p:nvSpPr>
          <p:cNvPr id="9" name="Légende chiffre"/>
          <p:cNvSpPr txBox="1"/>
          <p:nvPr/>
        </p:nvSpPr>
        <p:spPr>
          <a:xfrm>
            <a:off x="8961120" y="5216652"/>
            <a:ext cx="2404872" cy="740664"/>
          </a:xfrm>
          <a:prstGeom prst="rect">
            <a:avLst/>
          </a:prstGeom>
          <a:noFill/>
          <a:ln/>
        </p:spPr>
        <p:txBody>
          <a:bodyPr wrap="square" lIns="0" tIns="0" rIns="0" bIns="0" rtlCol="0" anchor="t"/>
          <a:lstStyle/>
          <a:p>
            <a:pPr indent="0" marL="0">
              <a:buNone/>
            </a:pPr>
            <a:r>
              <a:rPr lang="en-US" sz="1400" dirty="0">
                <a:solidFill>
                  <a:schemeClr val="tx1"/>
                </a:solidFill>
              </a:rPr>
              <a:t>de profit net sur 2 552 k facturés (18,1 %)</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L'Électronique pèse 71 % du CA mais 15,6 % de ses commandes sont retournées</a:t>
            </a:r>
            <a:endParaRPr lang="en-US" sz="3400" dirty="0"/>
          </a:p>
        </p:txBody>
      </p:sp>
      <p:graphicFrame>
        <p:nvGraphicFramePr>
          <p:cNvPr id="3" name="Graphique retours" descr=""/>
          <p:cNvGraphicFramePr/>
          <p:nvPr/>
        </p:nvGraphicFramePr>
        <p:xfrm>
          <a:off x="548640" y="1691640"/>
          <a:ext cx="544068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aphique rentabilité" descr=""/>
          <p:cNvGraphicFramePr/>
          <p:nvPr/>
        </p:nvGraphicFramePr>
        <p:xfrm>
          <a:off x="6199632" y="1691640"/>
          <a:ext cx="5440680" cy="3383280"/>
        </p:xfrm>
        <a:graphic xmlns:a="http://schemas.openxmlformats.org/drawingml/2006/main">
          <a:graphicData uri="http://schemas.openxmlformats.org/drawingml/2006/chart">
            <c:chart xmlns:c="http://schemas.openxmlformats.org/drawingml/2006/chart" r:id="rId2"/>
          </a:graphicData>
        </a:graphic>
      </p:graphicFrame>
      <p:sp>
        <p:nvSpPr>
          <p:cNvPr id="5" name="Lecture catégories"/>
          <p:cNvSpPr txBox="1"/>
          <p:nvPr/>
        </p:nvSpPr>
        <p:spPr>
          <a:xfrm>
            <a:off x="548640" y="5138928"/>
            <a:ext cx="11094415" cy="365760"/>
          </a:xfrm>
          <a:prstGeom prst="rect">
            <a:avLst/>
          </a:prstGeom>
          <a:noFill/>
          <a:ln/>
        </p:spPr>
        <p:txBody>
          <a:bodyPr wrap="square" lIns="0" tIns="0" rIns="0" bIns="0" rtlCol="0" anchor="t"/>
          <a:lstStyle/>
          <a:p>
            <a:pPr indent="0" marL="0">
              <a:buNone/>
            </a:pPr>
            <a:r>
              <a:rPr lang="en-US" sz="1400" dirty="0">
                <a:solidFill>
                  <a:schemeClr val="tx1"/>
                </a:solidFill>
              </a:rPr>
              <a:t>Électronique : 71 % du CA, 60 % du profit, 282 k UM remboursées (88 % de tous les retours)  ·  </a:t>
            </a:r>
            <a:pPr indent="0" marL="0">
              <a:buNone/>
            </a:pPr>
            <a:r>
              <a:rPr lang="en-US" sz="1400" dirty="0">
                <a:solidFill>
                  <a:schemeClr val="tx1"/>
                </a:solidFill>
              </a:rPr>
              <a:t>Maison : profit/CA le plus élevé (32,0 %), retours à 5,0 %</a:t>
            </a:r>
            <a:endParaRPr lang="en-US" sz="1400" dirty="0"/>
          </a:p>
        </p:txBody>
      </p:sp>
      <p:sp>
        <p:nvSpPr>
          <p:cNvPr id="6" name="Bandeau réponse"/>
          <p:cNvSpPr/>
          <p:nvPr/>
        </p:nvSpPr>
        <p:spPr>
          <a:xfrm>
            <a:off x="548640" y="5669280"/>
            <a:ext cx="11094415" cy="658368"/>
          </a:xfrm>
          <a:prstGeom prst="roundRect">
            <a:avLst>
              <a:gd name="adj" fmla="val 11111"/>
            </a:avLst>
          </a:prstGeom>
          <a:solidFill>
            <a:schemeClr val="tx2"/>
          </a:solidFill>
          <a:ln/>
        </p:spPr>
      </p:sp>
      <p:sp>
        <p:nvSpPr>
          <p:cNvPr id="7" name="Texte réponse"/>
          <p:cNvSpPr txBox="1"/>
          <p:nvPr/>
        </p:nvSpPr>
        <p:spPr>
          <a:xfrm>
            <a:off x="822960" y="5669280"/>
            <a:ext cx="10545775" cy="658368"/>
          </a:xfrm>
          <a:prstGeom prst="rect">
            <a:avLst/>
          </a:prstGeom>
          <a:noFill/>
          <a:ln/>
        </p:spPr>
        <p:txBody>
          <a:bodyPr wrap="square" lIns="0" tIns="0" rIns="0" bIns="0" rtlCol="0" anchor="ctr"/>
          <a:lstStyle/>
          <a:p>
            <a:pPr indent="0" marL="0">
              <a:buNone/>
            </a:pPr>
            <a:r>
              <a:rPr lang="en-US" sz="1600" b="1" dirty="0">
                <a:solidFill>
                  <a:schemeClr val="bg1"/>
                </a:solidFill>
              </a:rPr>
              <a:t>Réponse : optimiser l'Électronique · prioriser Maison · redresser Mode</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En fin d'année, Maison double tandis que Mode décroche (+68 % et −17 % au T4)</a:t>
            </a:r>
            <a:endParaRPr lang="en-US" sz="3400" dirty="0"/>
          </a:p>
        </p:txBody>
      </p:sp>
      <p:graphicFrame>
        <p:nvGraphicFramePr>
          <p:cNvPr id="3" name="Graphique mix" descr=""/>
          <p:cNvGraphicFramePr/>
          <p:nvPr/>
        </p:nvGraphicFramePr>
        <p:xfrm>
          <a:off x="548640" y="1737360"/>
          <a:ext cx="7498080" cy="4526280"/>
        </p:xfrm>
        <a:graphic xmlns:a="http://schemas.openxmlformats.org/drawingml/2006/main">
          <a:graphicData uri="http://schemas.openxmlformats.org/drawingml/2006/chart">
            <c:chart xmlns:c="http://schemas.openxmlformats.org/drawingml/2006/chart" r:id="rId1"/>
          </a:graphicData>
        </a:graphic>
      </p:graphicFrame>
      <p:sp>
        <p:nvSpPr>
          <p:cNvPr id="4" name="Carte chiffre"/>
          <p:cNvSpPr/>
          <p:nvPr/>
        </p:nvSpPr>
        <p:spPr>
          <a:xfrm>
            <a:off x="8366760" y="1783080"/>
            <a:ext cx="3273552" cy="2103120"/>
          </a:xfrm>
          <a:prstGeom prst="roundRect">
            <a:avLst>
              <a:gd name="adj" fmla="val 3478"/>
            </a:avLst>
          </a:prstGeom>
          <a:solidFill>
            <a:schemeClr val="bg2"/>
          </a:solidFill>
          <a:ln/>
        </p:spPr>
      </p:sp>
      <p:sp>
        <p:nvSpPr>
          <p:cNvPr id="5" name="Chiffre clé"/>
          <p:cNvSpPr txBox="1"/>
          <p:nvPr/>
        </p:nvSpPr>
        <p:spPr>
          <a:xfrm>
            <a:off x="8641080" y="1911096"/>
            <a:ext cx="2724912" cy="1093622"/>
          </a:xfrm>
          <a:prstGeom prst="rect">
            <a:avLst/>
          </a:prstGeom>
          <a:noFill/>
          <a:ln/>
        </p:spPr>
        <p:txBody>
          <a:bodyPr wrap="square" lIns="0" tIns="0" rIns="0" bIns="0" rtlCol="0" anchor="ctr"/>
          <a:lstStyle/>
          <a:p>
            <a:pPr indent="0" marL="0">
              <a:buNone/>
            </a:pPr>
            <a:r>
              <a:rPr lang="en-US" sz="4400" b="1" dirty="0">
                <a:solidFill>
                  <a:srgbClr val="EB6834"/>
                </a:solidFill>
              </a:rPr>
              <a:t>+68 %</a:t>
            </a:r>
            <a:endParaRPr lang="en-US" sz="4400" dirty="0"/>
          </a:p>
        </p:txBody>
      </p:sp>
      <p:sp>
        <p:nvSpPr>
          <p:cNvPr id="6" name="Légende chiffre"/>
          <p:cNvSpPr txBox="1"/>
          <p:nvPr/>
        </p:nvSpPr>
        <p:spPr>
          <a:xfrm>
            <a:off x="8641080" y="3002890"/>
            <a:ext cx="2724912" cy="757123"/>
          </a:xfrm>
          <a:prstGeom prst="rect">
            <a:avLst/>
          </a:prstGeom>
          <a:noFill/>
          <a:ln/>
        </p:spPr>
        <p:txBody>
          <a:bodyPr wrap="square" lIns="0" tIns="0" rIns="0" bIns="0" rtlCol="0" anchor="t"/>
          <a:lstStyle/>
          <a:p>
            <a:pPr indent="0" marL="0">
              <a:buNone/>
            </a:pPr>
            <a:r>
              <a:rPr lang="en-US" sz="1400" dirty="0">
                <a:solidFill>
                  <a:schemeClr val="tx1"/>
                </a:solidFill>
              </a:rPr>
              <a:t>Maison au T4 vs T3 : la demande double dès novembre, sans hausse de remises</a:t>
            </a:r>
            <a:endParaRPr lang="en-US" sz="1400" dirty="0"/>
          </a:p>
        </p:txBody>
      </p:sp>
      <p:sp>
        <p:nvSpPr>
          <p:cNvPr id="7" name="Carte chiffre"/>
          <p:cNvSpPr/>
          <p:nvPr/>
        </p:nvSpPr>
        <p:spPr>
          <a:xfrm>
            <a:off x="8366760" y="4069080"/>
            <a:ext cx="3273552" cy="2103120"/>
          </a:xfrm>
          <a:prstGeom prst="roundRect">
            <a:avLst>
              <a:gd name="adj" fmla="val 3478"/>
            </a:avLst>
          </a:prstGeom>
          <a:solidFill>
            <a:schemeClr val="bg2"/>
          </a:solidFill>
          <a:ln/>
        </p:spPr>
      </p:sp>
      <p:sp>
        <p:nvSpPr>
          <p:cNvPr id="8" name="Chiffre clé"/>
          <p:cNvSpPr txBox="1"/>
          <p:nvPr/>
        </p:nvSpPr>
        <p:spPr>
          <a:xfrm>
            <a:off x="8641080" y="4197096"/>
            <a:ext cx="2724912" cy="1093622"/>
          </a:xfrm>
          <a:prstGeom prst="rect">
            <a:avLst/>
          </a:prstGeom>
          <a:noFill/>
          <a:ln/>
        </p:spPr>
        <p:txBody>
          <a:bodyPr wrap="square" lIns="0" tIns="0" rIns="0" bIns="0" rtlCol="0" anchor="ctr"/>
          <a:lstStyle/>
          <a:p>
            <a:pPr indent="0" marL="0">
              <a:buNone/>
            </a:pPr>
            <a:r>
              <a:rPr lang="en-US" sz="4400" b="1" dirty="0">
                <a:solidFill>
                  <a:schemeClr val="accent6"/>
                </a:solidFill>
              </a:rPr>
              <a:t>−17 %</a:t>
            </a:r>
            <a:endParaRPr lang="en-US" sz="4400" dirty="0"/>
          </a:p>
        </p:txBody>
      </p:sp>
      <p:sp>
        <p:nvSpPr>
          <p:cNvPr id="9" name="Légende chiffre"/>
          <p:cNvSpPr txBox="1"/>
          <p:nvPr/>
        </p:nvSpPr>
        <p:spPr>
          <a:xfrm>
            <a:off x="8641080" y="5288890"/>
            <a:ext cx="2724912" cy="757123"/>
          </a:xfrm>
          <a:prstGeom prst="rect">
            <a:avLst/>
          </a:prstGeom>
          <a:noFill/>
          <a:ln/>
        </p:spPr>
        <p:txBody>
          <a:bodyPr wrap="square" lIns="0" tIns="0" rIns="0" bIns="0" rtlCol="0" anchor="t"/>
          <a:lstStyle/>
          <a:p>
            <a:pPr indent="0" marL="0">
              <a:buNone/>
            </a:pPr>
            <a:r>
              <a:rPr lang="en-US" sz="1400" dirty="0">
                <a:solidFill>
                  <a:schemeClr val="tx1"/>
                </a:solidFill>
              </a:rPr>
              <a:t>Mode au T4 vs T3, malgré 22 % de profit sur CA</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Douala annule 12,9 % de ses commandes, les sept autres villes 0,1 %</a:t>
            </a:r>
            <a:endParaRPr lang="en-US" sz="3400" dirty="0"/>
          </a:p>
        </p:txBody>
      </p:sp>
      <p:graphicFrame>
        <p:nvGraphicFramePr>
          <p:cNvPr id="3" name="Graphique annulations" descr=""/>
          <p:cNvGraphicFramePr/>
          <p:nvPr/>
        </p:nvGraphicFramePr>
        <p:xfrm>
          <a:off x="548640" y="1737360"/>
          <a:ext cx="6583680" cy="4526280"/>
        </p:xfrm>
        <a:graphic xmlns:a="http://schemas.openxmlformats.org/drawingml/2006/main">
          <a:graphicData uri="http://schemas.openxmlformats.org/drawingml/2006/chart">
            <c:chart xmlns:c="http://schemas.openxmlformats.org/drawingml/2006/chart" r:id="rId1"/>
          </a:graphicData>
        </a:graphic>
      </p:graphicFrame>
      <p:sp>
        <p:nvSpPr>
          <p:cNvPr id="4" name="Carte Douala"/>
          <p:cNvSpPr/>
          <p:nvPr/>
        </p:nvSpPr>
        <p:spPr>
          <a:xfrm>
            <a:off x="7406640" y="1783080"/>
            <a:ext cx="4233672" cy="4389120"/>
          </a:xfrm>
          <a:prstGeom prst="roundRect">
            <a:avLst>
              <a:gd name="adj" fmla="val 1728"/>
            </a:avLst>
          </a:prstGeom>
          <a:solidFill>
            <a:schemeClr val="bg2"/>
          </a:solidFill>
          <a:ln/>
        </p:spPr>
      </p:sp>
      <p:sp>
        <p:nvSpPr>
          <p:cNvPr id="5" name="Chiffre Douala"/>
          <p:cNvSpPr txBox="1"/>
          <p:nvPr/>
        </p:nvSpPr>
        <p:spPr>
          <a:xfrm>
            <a:off x="7680960" y="1920240"/>
            <a:ext cx="3749040" cy="914400"/>
          </a:xfrm>
          <a:prstGeom prst="rect">
            <a:avLst/>
          </a:prstGeom>
          <a:noFill/>
          <a:ln/>
        </p:spPr>
        <p:txBody>
          <a:bodyPr wrap="square" lIns="0" tIns="0" rIns="0" bIns="0" rtlCol="0" anchor="ctr"/>
          <a:lstStyle/>
          <a:p>
            <a:pPr indent="0" marL="0">
              <a:buNone/>
            </a:pPr>
            <a:r>
              <a:rPr lang="en-US" sz="6000" b="1" dirty="0">
                <a:solidFill>
                  <a:schemeClr val="accent6"/>
                </a:solidFill>
              </a:rPr>
              <a:t>12,9 %</a:t>
            </a:r>
            <a:endParaRPr lang="en-US" sz="6000" dirty="0"/>
          </a:p>
        </p:txBody>
      </p:sp>
      <p:sp>
        <p:nvSpPr>
          <p:cNvPr id="6" name="Constats Douala"/>
          <p:cNvSpPr txBox="1"/>
          <p:nvPr/>
        </p:nvSpPr>
        <p:spPr>
          <a:xfrm>
            <a:off x="7680960" y="3017520"/>
            <a:ext cx="3749040" cy="30175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176 commandes annulées, soit 47 k UM de CA perdu</a:t>
            </a:r>
            <a:endParaRPr lang="en-US" sz="1700" dirty="0"/>
          </a:p>
          <a:p>
            <a:pPr marL="342900" indent="-342900">
              <a:spcAft>
                <a:spcPts val="1000"/>
              </a:spcAft>
              <a:buSzPct val="100000"/>
              <a:buChar char="•"/>
            </a:pPr>
            <a:r>
              <a:rPr lang="en-US" sz="1700" dirty="0">
                <a:solidFill>
                  <a:schemeClr val="tx1"/>
                </a:solidFill>
              </a:rPr>
              <a:t>Cause locale : ni le canal, ni la catégorie, ni le paiement, ni le mois ne l'expliquent</a:t>
            </a:r>
            <a:endParaRPr lang="en-US" sz="1700" dirty="0"/>
          </a:p>
          <a:p>
            <a:pPr marL="342900" indent="-342900">
              <a:buSzPct val="100000"/>
              <a:buChar char="•"/>
            </a:pPr>
            <a:r>
              <a:rPr lang="en-US" sz="1700" dirty="0">
                <a:solidFill>
                  <a:schemeClr val="tx1"/>
                </a:solidFill>
              </a:rPr>
              <a:t>Pistes : stock local, délai de livraison, confirmation de commande</a:t>
            </a:r>
            <a:endParaRPr lang="en-US" sz="17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Investir où la demande croît : Cotonou, puis Douala une fois les annulations corrigées</a:t>
            </a:r>
            <a:endParaRPr lang="en-US" sz="3400" dirty="0"/>
          </a:p>
        </p:txBody>
      </p:sp>
      <p:graphicFrame>
        <p:nvGraphicFramePr>
          <p:cNvPr id="3" name="Graphique croissance villes" descr=""/>
          <p:cNvGraphicFramePr/>
          <p:nvPr/>
        </p:nvGraphicFramePr>
        <p:xfrm>
          <a:off x="548640" y="1737360"/>
          <a:ext cx="6309360" cy="4526280"/>
        </p:xfrm>
        <a:graphic xmlns:a="http://schemas.openxmlformats.org/drawingml/2006/main">
          <a:graphicData uri="http://schemas.openxmlformats.org/drawingml/2006/chart">
            <c:chart xmlns:c="http://schemas.openxmlformats.org/drawingml/2006/chart" r:id="rId1"/>
          </a:graphicData>
        </a:graphic>
      </p:graphicFrame>
      <p:sp>
        <p:nvSpPr>
          <p:cNvPr id="4" name="Carte priorité"/>
          <p:cNvSpPr/>
          <p:nvPr/>
        </p:nvSpPr>
        <p:spPr>
          <a:xfrm>
            <a:off x="7132320" y="1783080"/>
            <a:ext cx="4507992" cy="987552"/>
          </a:xfrm>
          <a:prstGeom prst="roundRect">
            <a:avLst>
              <a:gd name="adj" fmla="val 7407"/>
            </a:avLst>
          </a:prstGeom>
          <a:solidFill>
            <a:schemeClr val="bg2"/>
          </a:solidFill>
          <a:ln/>
        </p:spPr>
      </p:sp>
      <p:sp>
        <p:nvSpPr>
          <p:cNvPr id="5" name="Numéro priorité"/>
          <p:cNvSpPr/>
          <p:nvPr/>
        </p:nvSpPr>
        <p:spPr>
          <a:xfrm>
            <a:off x="7315200" y="2002536"/>
            <a:ext cx="548640" cy="548640"/>
          </a:xfrm>
          <a:prstGeom prst="ellipse">
            <a:avLst/>
          </a:prstGeom>
          <a:solidFill>
            <a:schemeClr val="accent1"/>
          </a:solidFill>
          <a:ln/>
        </p:spPr>
      </p:sp>
      <p:sp>
        <p:nvSpPr>
          <p:cNvPr id="6" name="Chiffre priorité"/>
          <p:cNvSpPr txBox="1"/>
          <p:nvPr/>
        </p:nvSpPr>
        <p:spPr>
          <a:xfrm>
            <a:off x="7315200" y="200253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itre priorité"/>
          <p:cNvSpPr txBox="1"/>
          <p:nvPr/>
        </p:nvSpPr>
        <p:spPr>
          <a:xfrm>
            <a:off x="8046720" y="1911096"/>
            <a:ext cx="3474720" cy="365760"/>
          </a:xfrm>
          <a:prstGeom prst="rect">
            <a:avLst/>
          </a:prstGeom>
          <a:noFill/>
          <a:ln/>
        </p:spPr>
        <p:txBody>
          <a:bodyPr wrap="square" lIns="0" tIns="0" rIns="0" bIns="0" rtlCol="0" anchor="t"/>
          <a:lstStyle/>
          <a:p>
            <a:pPr indent="0" marL="0">
              <a:buNone/>
            </a:pPr>
            <a:r>
              <a:rPr lang="en-US" sz="1600" b="1" dirty="0">
                <a:solidFill>
                  <a:schemeClr val="tx2"/>
                </a:solidFill>
              </a:rPr>
              <a:t>Réparer Douala, puis accélérer</a:t>
            </a:r>
            <a:endParaRPr lang="en-US" sz="1600" dirty="0"/>
          </a:p>
        </p:txBody>
      </p:sp>
      <p:sp>
        <p:nvSpPr>
          <p:cNvPr id="8" name="Détail priorité"/>
          <p:cNvSpPr txBox="1"/>
          <p:nvPr/>
        </p:nvSpPr>
        <p:spPr>
          <a:xfrm>
            <a:off x="8046720" y="2295144"/>
            <a:ext cx="3474720" cy="411480"/>
          </a:xfrm>
          <a:prstGeom prst="rect">
            <a:avLst/>
          </a:prstGeom>
          <a:noFill/>
          <a:ln/>
        </p:spPr>
        <p:txBody>
          <a:bodyPr wrap="square" lIns="0" tIns="0" rIns="0" bIns="0" rtlCol="0" anchor="t"/>
          <a:lstStyle/>
          <a:p>
            <a:pPr indent="0" marL="0">
              <a:buNone/>
            </a:pPr>
            <a:r>
              <a:rPr lang="en-US" sz="1400" dirty="0">
                <a:solidFill>
                  <a:schemeClr val="tx1"/>
                </a:solidFill>
              </a:rPr>
              <a:t>+21 % de croissance, 13 % du CA</a:t>
            </a:r>
            <a:endParaRPr lang="en-US" sz="1400" dirty="0"/>
          </a:p>
        </p:txBody>
      </p:sp>
      <p:sp>
        <p:nvSpPr>
          <p:cNvPr id="9" name="Carte priorité"/>
          <p:cNvSpPr/>
          <p:nvPr/>
        </p:nvSpPr>
        <p:spPr>
          <a:xfrm>
            <a:off x="7132320" y="2898648"/>
            <a:ext cx="4507992" cy="987552"/>
          </a:xfrm>
          <a:prstGeom prst="roundRect">
            <a:avLst>
              <a:gd name="adj" fmla="val 7407"/>
            </a:avLst>
          </a:prstGeom>
          <a:solidFill>
            <a:schemeClr val="bg2"/>
          </a:solidFill>
          <a:ln/>
        </p:spPr>
      </p:sp>
      <p:sp>
        <p:nvSpPr>
          <p:cNvPr id="10" name="Numéro priorité"/>
          <p:cNvSpPr/>
          <p:nvPr/>
        </p:nvSpPr>
        <p:spPr>
          <a:xfrm>
            <a:off x="7315200" y="3118104"/>
            <a:ext cx="548640" cy="548640"/>
          </a:xfrm>
          <a:prstGeom prst="ellipse">
            <a:avLst/>
          </a:prstGeom>
          <a:solidFill>
            <a:schemeClr val="accent1"/>
          </a:solidFill>
          <a:ln/>
        </p:spPr>
      </p:sp>
      <p:sp>
        <p:nvSpPr>
          <p:cNvPr id="11" name="Chiffre priorité"/>
          <p:cNvSpPr txBox="1"/>
          <p:nvPr/>
        </p:nvSpPr>
        <p:spPr>
          <a:xfrm>
            <a:off x="7315200" y="311810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itre priorité"/>
          <p:cNvSpPr txBox="1"/>
          <p:nvPr/>
        </p:nvSpPr>
        <p:spPr>
          <a:xfrm>
            <a:off x="8046720" y="3026664"/>
            <a:ext cx="3474720" cy="365760"/>
          </a:xfrm>
          <a:prstGeom prst="rect">
            <a:avLst/>
          </a:prstGeom>
          <a:noFill/>
          <a:ln/>
        </p:spPr>
        <p:txBody>
          <a:bodyPr wrap="square" lIns="0" tIns="0" rIns="0" bIns="0" rtlCol="0" anchor="t"/>
          <a:lstStyle/>
          <a:p>
            <a:pPr indent="0" marL="0">
              <a:buNone/>
            </a:pPr>
            <a:r>
              <a:rPr lang="en-US" sz="1600" b="1" dirty="0">
                <a:solidFill>
                  <a:schemeClr val="tx2"/>
                </a:solidFill>
              </a:rPr>
              <a:t>Accélérer sur Cotonou</a:t>
            </a:r>
            <a:endParaRPr lang="en-US" sz="1600" dirty="0"/>
          </a:p>
        </p:txBody>
      </p:sp>
      <p:sp>
        <p:nvSpPr>
          <p:cNvPr id="13" name="Détail priorité"/>
          <p:cNvSpPr txBox="1"/>
          <p:nvPr/>
        </p:nvSpPr>
        <p:spPr>
          <a:xfrm>
            <a:off x="8046720" y="3410712"/>
            <a:ext cx="3474720" cy="411480"/>
          </a:xfrm>
          <a:prstGeom prst="rect">
            <a:avLst/>
          </a:prstGeom>
          <a:noFill/>
          <a:ln/>
        </p:spPr>
        <p:txBody>
          <a:bodyPr wrap="square" lIns="0" tIns="0" rIns="0" bIns="0" rtlCol="0" anchor="t"/>
          <a:lstStyle/>
          <a:p>
            <a:pPr indent="0" marL="0">
              <a:buNone/>
            </a:pPr>
            <a:r>
              <a:rPr lang="en-US" sz="1400" dirty="0">
                <a:solidFill>
                  <a:schemeClr val="tx1"/>
                </a:solidFill>
              </a:rPr>
              <a:t>+34 %, petite base (7 % du CA)</a:t>
            </a:r>
            <a:endParaRPr lang="en-US" sz="1400" dirty="0"/>
          </a:p>
        </p:txBody>
      </p:sp>
      <p:sp>
        <p:nvSpPr>
          <p:cNvPr id="14" name="Carte priorité"/>
          <p:cNvSpPr/>
          <p:nvPr/>
        </p:nvSpPr>
        <p:spPr>
          <a:xfrm>
            <a:off x="7132320" y="4014216"/>
            <a:ext cx="4507992" cy="987552"/>
          </a:xfrm>
          <a:prstGeom prst="roundRect">
            <a:avLst>
              <a:gd name="adj" fmla="val 7407"/>
            </a:avLst>
          </a:prstGeom>
          <a:solidFill>
            <a:schemeClr val="bg2"/>
          </a:solidFill>
          <a:ln/>
        </p:spPr>
      </p:sp>
      <p:sp>
        <p:nvSpPr>
          <p:cNvPr id="15" name="Numéro priorité"/>
          <p:cNvSpPr/>
          <p:nvPr/>
        </p:nvSpPr>
        <p:spPr>
          <a:xfrm>
            <a:off x="7315200" y="4233672"/>
            <a:ext cx="548640" cy="548640"/>
          </a:xfrm>
          <a:prstGeom prst="ellipse">
            <a:avLst/>
          </a:prstGeom>
          <a:solidFill>
            <a:schemeClr val="accent1"/>
          </a:solidFill>
          <a:ln/>
        </p:spPr>
      </p:sp>
      <p:sp>
        <p:nvSpPr>
          <p:cNvPr id="16" name="Chiffre priorité"/>
          <p:cNvSpPr txBox="1"/>
          <p:nvPr/>
        </p:nvSpPr>
        <p:spPr>
          <a:xfrm>
            <a:off x="7315200" y="423367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itre priorité"/>
          <p:cNvSpPr txBox="1"/>
          <p:nvPr/>
        </p:nvSpPr>
        <p:spPr>
          <a:xfrm>
            <a:off x="8046720" y="4142232"/>
            <a:ext cx="3474720" cy="365760"/>
          </a:xfrm>
          <a:prstGeom prst="rect">
            <a:avLst/>
          </a:prstGeom>
          <a:noFill/>
          <a:ln/>
        </p:spPr>
        <p:txBody>
          <a:bodyPr wrap="square" lIns="0" tIns="0" rIns="0" bIns="0" rtlCol="0" anchor="t"/>
          <a:lstStyle/>
          <a:p>
            <a:pPr indent="0" marL="0">
              <a:buNone/>
            </a:pPr>
            <a:r>
              <a:rPr lang="en-US" sz="1600" b="1" dirty="0">
                <a:solidFill>
                  <a:schemeClr val="tx2"/>
                </a:solidFill>
              </a:rPr>
              <a:t>Défendre Kinshasa</a:t>
            </a:r>
            <a:endParaRPr lang="en-US" sz="1600" dirty="0"/>
          </a:p>
        </p:txBody>
      </p:sp>
      <p:sp>
        <p:nvSpPr>
          <p:cNvPr id="18" name="Détail priorité"/>
          <p:cNvSpPr txBox="1"/>
          <p:nvPr/>
        </p:nvSpPr>
        <p:spPr>
          <a:xfrm>
            <a:off x="8046720" y="4526280"/>
            <a:ext cx="3474720" cy="411480"/>
          </a:xfrm>
          <a:prstGeom prst="rect">
            <a:avLst/>
          </a:prstGeom>
          <a:noFill/>
          <a:ln/>
        </p:spPr>
        <p:txBody>
          <a:bodyPr wrap="square" lIns="0" tIns="0" rIns="0" bIns="0" rtlCol="0" anchor="t"/>
          <a:lstStyle/>
          <a:p>
            <a:pPr indent="0" marL="0">
              <a:buNone/>
            </a:pPr>
            <a:r>
              <a:rPr lang="en-US" sz="1400" dirty="0">
                <a:solidFill>
                  <a:schemeClr val="tx1"/>
                </a:solidFill>
              </a:rPr>
              <a:t>30 % du CA, +5 %</a:t>
            </a:r>
            <a:endParaRPr lang="en-US" sz="1400" dirty="0"/>
          </a:p>
        </p:txBody>
      </p:sp>
      <p:sp>
        <p:nvSpPr>
          <p:cNvPr id="19" name="Carte priorité"/>
          <p:cNvSpPr/>
          <p:nvPr/>
        </p:nvSpPr>
        <p:spPr>
          <a:xfrm>
            <a:off x="7132320" y="5129784"/>
            <a:ext cx="4507992" cy="987552"/>
          </a:xfrm>
          <a:prstGeom prst="roundRect">
            <a:avLst>
              <a:gd name="adj" fmla="val 7407"/>
            </a:avLst>
          </a:prstGeom>
          <a:solidFill>
            <a:schemeClr val="bg2"/>
          </a:solidFill>
          <a:ln/>
        </p:spPr>
      </p:sp>
      <p:sp>
        <p:nvSpPr>
          <p:cNvPr id="20" name="Numéro priorité"/>
          <p:cNvSpPr/>
          <p:nvPr/>
        </p:nvSpPr>
        <p:spPr>
          <a:xfrm>
            <a:off x="7315200" y="5349240"/>
            <a:ext cx="548640" cy="548640"/>
          </a:xfrm>
          <a:prstGeom prst="ellipse">
            <a:avLst/>
          </a:prstGeom>
          <a:solidFill>
            <a:schemeClr val="accent1"/>
          </a:solidFill>
          <a:ln/>
        </p:spPr>
      </p:sp>
      <p:sp>
        <p:nvSpPr>
          <p:cNvPr id="21" name="Chiffre priorité"/>
          <p:cNvSpPr txBox="1"/>
          <p:nvPr/>
        </p:nvSpPr>
        <p:spPr>
          <a:xfrm>
            <a:off x="7315200" y="5349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itre priorité"/>
          <p:cNvSpPr txBox="1"/>
          <p:nvPr/>
        </p:nvSpPr>
        <p:spPr>
          <a:xfrm>
            <a:off x="8046720" y="5257800"/>
            <a:ext cx="3474720" cy="365760"/>
          </a:xfrm>
          <a:prstGeom prst="rect">
            <a:avLst/>
          </a:prstGeom>
          <a:noFill/>
          <a:ln/>
        </p:spPr>
        <p:txBody>
          <a:bodyPr wrap="square" lIns="0" tIns="0" rIns="0" bIns="0" rtlCol="0" anchor="t"/>
          <a:lstStyle/>
          <a:p>
            <a:pPr indent="0" marL="0">
              <a:buNone/>
            </a:pPr>
            <a:r>
              <a:rPr lang="en-US" sz="1600" b="1" dirty="0">
                <a:solidFill>
                  <a:schemeClr val="tx2"/>
                </a:solidFill>
              </a:rPr>
              <a:t>Diagnostiquer Dakar et Abidjan</a:t>
            </a:r>
            <a:endParaRPr lang="en-US" sz="1600" dirty="0"/>
          </a:p>
        </p:txBody>
      </p:sp>
      <p:sp>
        <p:nvSpPr>
          <p:cNvPr id="23" name="Détail priorité"/>
          <p:cNvSpPr txBox="1"/>
          <p:nvPr/>
        </p:nvSpPr>
        <p:spPr>
          <a:xfrm>
            <a:off x="8046720" y="5641848"/>
            <a:ext cx="3474720" cy="411480"/>
          </a:xfrm>
          <a:prstGeom prst="rect">
            <a:avLst/>
          </a:prstGeom>
          <a:noFill/>
          <a:ln/>
        </p:spPr>
        <p:txBody>
          <a:bodyPr wrap="square" lIns="0" tIns="0" rIns="0" bIns="0" rtlCol="0" anchor="t"/>
          <a:lstStyle/>
          <a:p>
            <a:pPr indent="0" marL="0">
              <a:buNone/>
            </a:pPr>
            <a:r>
              <a:rPr lang="en-US" sz="1400" dirty="0">
                <a:solidFill>
                  <a:schemeClr val="tx1"/>
                </a:solidFill>
              </a:rPr>
              <a:t>Dakar −7 %, Abidjan −1 % : stagnation</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Instagram absorbe 54 % du budget marketing pour 25 % du profit</a:t>
            </a:r>
            <a:endParaRPr lang="en-US" sz="3400" dirty="0"/>
          </a:p>
        </p:txBody>
      </p:sp>
      <p:graphicFrame>
        <p:nvGraphicFramePr>
          <p:cNvPr id="3" name="Graphique budget profit" descr=""/>
          <p:cNvGraphicFramePr/>
          <p:nvPr/>
        </p:nvGraphicFramePr>
        <p:xfrm>
          <a:off x="548640" y="1691640"/>
          <a:ext cx="576072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aphique ROI" descr=""/>
          <p:cNvGraphicFramePr/>
          <p:nvPr/>
        </p:nvGraphicFramePr>
        <p:xfrm>
          <a:off x="6492240" y="1691640"/>
          <a:ext cx="5148072" cy="3429000"/>
        </p:xfrm>
        <a:graphic xmlns:a="http://schemas.openxmlformats.org/drawingml/2006/main">
          <a:graphicData uri="http://schemas.openxmlformats.org/drawingml/2006/chart">
            <c:chart xmlns:c="http://schemas.openxmlformats.org/drawingml/2006/chart" r:id="rId2"/>
          </a:graphicData>
        </a:graphic>
      </p:graphicFrame>
      <p:sp>
        <p:nvSpPr>
          <p:cNvPr id="5" name="Détail ROI"/>
          <p:cNvSpPr txBox="1"/>
          <p:nvPr/>
        </p:nvSpPr>
        <p:spPr>
          <a:xfrm>
            <a:off x="548640" y="5193792"/>
            <a:ext cx="11094415" cy="365760"/>
          </a:xfrm>
          <a:prstGeom prst="rect">
            <a:avLst/>
          </a:prstGeom>
          <a:noFill/>
          <a:ln/>
        </p:spPr>
        <p:txBody>
          <a:bodyPr wrap="square" lIns="0" tIns="0" rIns="0" bIns="0" rtlCol="0" anchor="t"/>
          <a:lstStyle/>
          <a:p>
            <a:pPr indent="0" marL="0">
              <a:buNone/>
            </a:pPr>
            <a:r>
              <a:rPr lang="en-US" sz="1200" dirty="0">
                <a:solidFill>
                  <a:srgbClr val="5B6670"/>
                </a:solidFill>
              </a:rPr>
              <a:t>ROI sur CA = (Revenus − Coût) / Coût : Email 197 · Google 43,2 · Instagram 20,9 · Influenceur 18,1.   Coût par commande (UM) : Email 1,24 · Google 5,50 · Instagram 10,00 · Influenceur 12,14</a:t>
            </a:r>
            <a:endParaRPr lang="en-US" sz="1200" dirty="0"/>
          </a:p>
        </p:txBody>
      </p:sp>
      <p:sp>
        <p:nvSpPr>
          <p:cNvPr id="6" name="Bandeau réponse"/>
          <p:cNvSpPr/>
          <p:nvPr/>
        </p:nvSpPr>
        <p:spPr>
          <a:xfrm>
            <a:off x="548640" y="5669280"/>
            <a:ext cx="11094415" cy="658368"/>
          </a:xfrm>
          <a:prstGeom prst="roundRect">
            <a:avLst>
              <a:gd name="adj" fmla="val 11111"/>
            </a:avLst>
          </a:prstGeom>
          <a:solidFill>
            <a:schemeClr val="tx2"/>
          </a:solidFill>
          <a:ln/>
        </p:spPr>
      </p:sp>
      <p:sp>
        <p:nvSpPr>
          <p:cNvPr id="7" name="Texte réponse"/>
          <p:cNvSpPr txBox="1"/>
          <p:nvPr/>
        </p:nvSpPr>
        <p:spPr>
          <a:xfrm>
            <a:off x="822960" y="5669280"/>
            <a:ext cx="10545775" cy="658368"/>
          </a:xfrm>
          <a:prstGeom prst="rect">
            <a:avLst/>
          </a:prstGeom>
          <a:noFill/>
          <a:ln/>
        </p:spPr>
        <p:txBody>
          <a:bodyPr wrap="square" lIns="0" tIns="0" rIns="0" bIns="0" rtlCol="0" anchor="ctr"/>
          <a:lstStyle/>
          <a:p>
            <a:pPr indent="0" marL="0">
              <a:buNone/>
            </a:pPr>
            <a:r>
              <a:rPr lang="en-US" sz="1600" b="1" dirty="0">
                <a:solidFill>
                  <a:schemeClr val="bg1"/>
                </a:solidFill>
              </a:rPr>
              <a:t>Réponse : financer Google Ads et l'Email · optimiser Influenceur · réduire Instagram</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Déplacer 25 % du budget vers Google Ads gagne ≈ 22 k UM, tant que Google garde 37 % de son efficacité</a:t>
            </a:r>
            <a:endParaRPr lang="en-US" sz="3400" dirty="0"/>
          </a:p>
        </p:txBody>
      </p:sp>
      <p:graphicFrame>
        <p:nvGraphicFramePr>
          <p:cNvPr id="3" name="Graphique sensibilité" descr=""/>
          <p:cNvGraphicFramePr/>
          <p:nvPr/>
        </p:nvGraphicFramePr>
        <p:xfrm>
          <a:off x="548640" y="1737360"/>
          <a:ext cx="6400800" cy="4526280"/>
        </p:xfrm>
        <a:graphic xmlns:a="http://schemas.openxmlformats.org/drawingml/2006/main">
          <a:graphicData uri="http://schemas.openxmlformats.org/drawingml/2006/chart">
            <c:chart xmlns:c="http://schemas.openxmlformats.org/drawingml/2006/chart" r:id="rId1"/>
          </a:graphicData>
        </a:graphic>
      </p:graphicFrame>
      <p:sp>
        <p:nvSpPr>
          <p:cNvPr id="4" name="Carte étape"/>
          <p:cNvSpPr/>
          <p:nvPr/>
        </p:nvSpPr>
        <p:spPr>
          <a:xfrm>
            <a:off x="7223760" y="1783080"/>
            <a:ext cx="4416552" cy="1298448"/>
          </a:xfrm>
          <a:prstGeom prst="roundRect">
            <a:avLst>
              <a:gd name="adj" fmla="val 5634"/>
            </a:avLst>
          </a:prstGeom>
          <a:solidFill>
            <a:schemeClr val="bg2"/>
          </a:solidFill>
          <a:ln/>
        </p:spPr>
      </p:sp>
      <p:sp>
        <p:nvSpPr>
          <p:cNvPr id="5" name="Titre étape"/>
          <p:cNvSpPr txBox="1"/>
          <p:nvPr/>
        </p:nvSpPr>
        <p:spPr>
          <a:xfrm>
            <a:off x="7498080" y="1938528"/>
            <a:ext cx="3931920" cy="365760"/>
          </a:xfrm>
          <a:prstGeom prst="rect">
            <a:avLst/>
          </a:prstGeom>
          <a:noFill/>
          <a:ln/>
        </p:spPr>
        <p:txBody>
          <a:bodyPr wrap="square" lIns="0" tIns="0" rIns="0" bIns="0" rtlCol="0" anchor="t"/>
          <a:lstStyle/>
          <a:p>
            <a:pPr indent="0" marL="0">
              <a:buNone/>
            </a:pPr>
            <a:r>
              <a:rPr lang="en-US" sz="1800" b="1" dirty="0">
                <a:solidFill>
                  <a:schemeClr val="accent1"/>
                </a:solidFill>
              </a:rPr>
              <a:t>Déplacer</a:t>
            </a:r>
            <a:endParaRPr lang="en-US" sz="1800" dirty="0"/>
          </a:p>
        </p:txBody>
      </p:sp>
      <p:sp>
        <p:nvSpPr>
          <p:cNvPr id="6" name="Détail étape"/>
          <p:cNvSpPr txBox="1"/>
          <p:nvPr/>
        </p:nvSpPr>
        <p:spPr>
          <a:xfrm>
            <a:off x="7498080" y="2350008"/>
            <a:ext cx="3931920" cy="658368"/>
          </a:xfrm>
          <a:prstGeom prst="rect">
            <a:avLst/>
          </a:prstGeom>
          <a:noFill/>
          <a:ln/>
        </p:spPr>
        <p:txBody>
          <a:bodyPr wrap="square" lIns="0" tIns="0" rIns="0" bIns="0" rtlCol="0" anchor="t"/>
          <a:lstStyle/>
          <a:p>
            <a:pPr indent="0" marL="0">
              <a:buNone/>
            </a:pPr>
            <a:r>
              <a:rPr lang="en-US" sz="1400" dirty="0">
                <a:solidFill>
                  <a:schemeClr val="tx1"/>
                </a:solidFill>
              </a:rPr>
              <a:t>25 % d'Instagram + Influenceur, soit 13,5 k UM, vers Google Ads</a:t>
            </a:r>
            <a:endParaRPr lang="en-US" sz="1400" dirty="0"/>
          </a:p>
        </p:txBody>
      </p:sp>
      <p:sp>
        <p:nvSpPr>
          <p:cNvPr id="7" name="Carte étape"/>
          <p:cNvSpPr/>
          <p:nvPr/>
        </p:nvSpPr>
        <p:spPr>
          <a:xfrm>
            <a:off x="7223760" y="3246120"/>
            <a:ext cx="4416552" cy="1298448"/>
          </a:xfrm>
          <a:prstGeom prst="roundRect">
            <a:avLst>
              <a:gd name="adj" fmla="val 5634"/>
            </a:avLst>
          </a:prstGeom>
          <a:solidFill>
            <a:schemeClr val="bg2"/>
          </a:solidFill>
          <a:ln/>
        </p:spPr>
      </p:sp>
      <p:sp>
        <p:nvSpPr>
          <p:cNvPr id="8" name="Titre étape"/>
          <p:cNvSpPr txBox="1"/>
          <p:nvPr/>
        </p:nvSpPr>
        <p:spPr>
          <a:xfrm>
            <a:off x="7498080" y="3401568"/>
            <a:ext cx="3931920" cy="365760"/>
          </a:xfrm>
          <a:prstGeom prst="rect">
            <a:avLst/>
          </a:prstGeom>
          <a:noFill/>
          <a:ln/>
        </p:spPr>
        <p:txBody>
          <a:bodyPr wrap="square" lIns="0" tIns="0" rIns="0" bIns="0" rtlCol="0" anchor="t"/>
          <a:lstStyle/>
          <a:p>
            <a:pPr indent="0" marL="0">
              <a:buNone/>
            </a:pPr>
            <a:r>
              <a:rPr lang="en-US" sz="1800" b="1" dirty="0">
                <a:solidFill>
                  <a:schemeClr val="accent1"/>
                </a:solidFill>
              </a:rPr>
              <a:t>Par paliers</a:t>
            </a:r>
            <a:endParaRPr lang="en-US" sz="1800" dirty="0"/>
          </a:p>
        </p:txBody>
      </p:sp>
      <p:sp>
        <p:nvSpPr>
          <p:cNvPr id="9" name="Détail étape"/>
          <p:cNvSpPr txBox="1"/>
          <p:nvPr/>
        </p:nvSpPr>
        <p:spPr>
          <a:xfrm>
            <a:off x="7498080" y="3813048"/>
            <a:ext cx="3931920" cy="658368"/>
          </a:xfrm>
          <a:prstGeom prst="rect">
            <a:avLst/>
          </a:prstGeom>
          <a:noFill/>
          <a:ln/>
        </p:spPr>
        <p:txBody>
          <a:bodyPr wrap="square" lIns="0" tIns="0" rIns="0" bIns="0" rtlCol="0" anchor="t"/>
          <a:lstStyle/>
          <a:p>
            <a:pPr indent="0" marL="0">
              <a:buNone/>
            </a:pPr>
            <a:r>
              <a:rPr lang="en-US" sz="1400" dirty="0">
                <a:solidFill>
                  <a:schemeClr val="tx1"/>
                </a:solidFill>
              </a:rPr>
              <a:t>de 10 %, avec mesure du rendement à chaque étape</a:t>
            </a:r>
            <a:endParaRPr lang="en-US" sz="1400" dirty="0"/>
          </a:p>
        </p:txBody>
      </p:sp>
      <p:sp>
        <p:nvSpPr>
          <p:cNvPr id="10" name="Carte étape"/>
          <p:cNvSpPr/>
          <p:nvPr/>
        </p:nvSpPr>
        <p:spPr>
          <a:xfrm>
            <a:off x="7223760" y="4709160"/>
            <a:ext cx="4416552" cy="1298448"/>
          </a:xfrm>
          <a:prstGeom prst="roundRect">
            <a:avLst>
              <a:gd name="adj" fmla="val 5634"/>
            </a:avLst>
          </a:prstGeom>
          <a:solidFill>
            <a:schemeClr val="bg2"/>
          </a:solidFill>
          <a:ln/>
        </p:spPr>
      </p:sp>
      <p:sp>
        <p:nvSpPr>
          <p:cNvPr id="11" name="Titre étape"/>
          <p:cNvSpPr txBox="1"/>
          <p:nvPr/>
        </p:nvSpPr>
        <p:spPr>
          <a:xfrm>
            <a:off x="7498080" y="4864608"/>
            <a:ext cx="3931920" cy="365760"/>
          </a:xfrm>
          <a:prstGeom prst="rect">
            <a:avLst/>
          </a:prstGeom>
          <a:noFill/>
          <a:ln/>
        </p:spPr>
        <p:txBody>
          <a:bodyPr wrap="square" lIns="0" tIns="0" rIns="0" bIns="0" rtlCol="0" anchor="t"/>
          <a:lstStyle/>
          <a:p>
            <a:pPr indent="0" marL="0">
              <a:buNone/>
            </a:pPr>
            <a:r>
              <a:rPr lang="en-US" sz="1800" b="1" dirty="0">
                <a:solidFill>
                  <a:schemeClr val="accent1"/>
                </a:solidFill>
              </a:rPr>
              <a:t>Arrêter</a:t>
            </a:r>
            <a:endParaRPr lang="en-US" sz="1800" dirty="0"/>
          </a:p>
        </p:txBody>
      </p:sp>
      <p:sp>
        <p:nvSpPr>
          <p:cNvPr id="12" name="Détail étape"/>
          <p:cNvSpPr txBox="1"/>
          <p:nvPr/>
        </p:nvSpPr>
        <p:spPr>
          <a:xfrm>
            <a:off x="7498080" y="5276088"/>
            <a:ext cx="3931920" cy="658368"/>
          </a:xfrm>
          <a:prstGeom prst="rect">
            <a:avLst/>
          </a:prstGeom>
          <a:noFill/>
          <a:ln/>
        </p:spPr>
        <p:txBody>
          <a:bodyPr wrap="square" lIns="0" tIns="0" rIns="0" bIns="0" rtlCol="0" anchor="t"/>
          <a:lstStyle/>
          <a:p>
            <a:pPr indent="0" marL="0">
              <a:buNone/>
            </a:pPr>
            <a:r>
              <a:rPr lang="en-US" sz="1400" dirty="0">
                <a:solidFill>
                  <a:schemeClr val="tx1"/>
                </a:solidFill>
              </a:rPr>
              <a:t>si le rendement marginal de Google passe sous 37 % de sa moyenne</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31 % des clients font 80 % du CA ; les 174 VIP en font 41 %</a:t>
            </a:r>
            <a:endParaRPr lang="en-US" sz="3400" dirty="0"/>
          </a:p>
        </p:txBody>
      </p:sp>
      <p:graphicFrame>
        <p:nvGraphicFramePr>
          <p:cNvPr id="3" name="Courbe de Pareto" descr=""/>
          <p:cNvGraphicFramePr/>
          <p:nvPr/>
        </p:nvGraphicFramePr>
        <p:xfrm>
          <a:off x="548640" y="1737360"/>
          <a:ext cx="585216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au segments"/>
          <p:cNvGraphicFramePr>
            <a:graphicFrameLocks noGrp="1"/>
          </p:cNvGraphicFramePr>
          <p:nvPr>
            <p:extLst>
              <p:ext uri="{D42A27DB-BD31-4B8C-83A1-F6EECF244321}">
                <p14:modId xmlns:p14="http://schemas.microsoft.com/office/powerpoint/2010/main" val="1579011935"/>
              </p:ext>
            </p:extLst>
          </p:nvPr>
        </p:nvGraphicFramePr>
        <p:xfrm>
          <a:off x="6766560" y="1828800"/>
          <a:ext cx="4873752" cy="914400"/>
        </p:xfrm>
        <a:graphic>
          <a:graphicData uri="http://schemas.openxmlformats.org/drawingml/2006/table">
            <a:tbl>
              <a:tblPr/>
              <a:tblGrid>
                <a:gridCol w="2011680"/>
                <a:gridCol w="914400"/>
                <a:gridCol w="960120"/>
                <a:gridCol w="987552"/>
              </a:tblGrid>
              <a:tr h="502920">
                <a:tc>
                  <a:txBody>
                    <a:bodyPr/>
                    <a:lstStyle/>
                    <a:p>
                      <a:pPr indent="0" marL="0">
                        <a:buNone/>
                      </a:pPr>
                      <a:r>
                        <a:rPr lang="en-US" sz="1400" b="1" dirty="0">
                          <a:solidFill>
                            <a:srgbClr val="FFFFFF"/>
                          </a:solidFill>
                        </a:rPr>
                        <a:t>Segment</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1F4E8C"/>
                    </a:solidFill>
                  </a:tcPr>
                </a:tc>
                <a:tc>
                  <a:txBody>
                    <a:bodyPr/>
                    <a:lstStyle/>
                    <a:p>
                      <a:pPr algn="r" indent="0" marL="0">
                        <a:buNone/>
                      </a:pPr>
                      <a:r>
                        <a:rPr lang="en-US" sz="1400" b="1" dirty="0">
                          <a:solidFill>
                            <a:srgbClr val="FFFFFF"/>
                          </a:solidFill>
                        </a:rPr>
                        <a:t>% clients</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1F4E8C"/>
                    </a:solidFill>
                  </a:tcPr>
                </a:tc>
                <a:tc>
                  <a:txBody>
                    <a:bodyPr/>
                    <a:lstStyle/>
                    <a:p>
                      <a:pPr algn="r" indent="0" marL="0">
                        <a:buNone/>
                      </a:pPr>
                      <a:r>
                        <a:rPr lang="en-US" sz="1400" b="1" dirty="0">
                          <a:solidFill>
                            <a:srgbClr val="FFFFFF"/>
                          </a:solidFill>
                        </a:rPr>
                        <a:t>% du CA</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1F4E8C"/>
                    </a:solidFill>
                  </a:tcPr>
                </a:tc>
                <a:tc>
                  <a:txBody>
                    <a:bodyPr/>
                    <a:lstStyle/>
                    <a:p>
                      <a:pPr algn="r" indent="0" marL="0">
                        <a:buNone/>
                      </a:pPr>
                      <a:r>
                        <a:rPr lang="en-US" sz="1400" b="1" dirty="0">
                          <a:solidFill>
                            <a:srgbClr val="FFFFFF"/>
                          </a:solidFill>
                        </a:rPr>
                        <a:t>% profit</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1F4E8C"/>
                    </a:solidFill>
                  </a:tcPr>
                </a:tc>
              </a:tr>
              <a:tr h="502920">
                <a:tc>
                  <a:txBody>
                    <a:bodyPr/>
                    <a:lstStyle/>
                    <a:p>
                      <a:pPr indent="0" marL="0">
                        <a:buNone/>
                      </a:pPr>
                      <a:r>
                        <a:rPr lang="en-US" sz="1400" b="1" dirty="0">
                          <a:solidFill>
                            <a:srgbClr val="1F2933"/>
                          </a:solidFill>
                        </a:rPr>
                        <a:t>VIP</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1F5F9"/>
                    </a:solidFill>
                  </a:tcPr>
                </a:tc>
                <a:tc>
                  <a:txBody>
                    <a:bodyPr/>
                    <a:lstStyle/>
                    <a:p>
                      <a:pPr algn="r" indent="0" marL="0">
                        <a:buNone/>
                      </a:pPr>
                      <a:r>
                        <a:rPr lang="en-US" sz="1400" dirty="0">
                          <a:solidFill>
                            <a:srgbClr val="1F2933"/>
                          </a:solidFill>
                        </a:rPr>
                        <a:t>10 %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1F5F9"/>
                    </a:solidFill>
                  </a:tcPr>
                </a:tc>
                <a:tc>
                  <a:txBody>
                    <a:bodyPr/>
                    <a:lstStyle/>
                    <a:p>
                      <a:pPr algn="r" indent="0" marL="0">
                        <a:buNone/>
                      </a:pPr>
                      <a:r>
                        <a:rPr lang="en-US" sz="1400" b="1" dirty="0">
                          <a:solidFill>
                            <a:srgbClr val="1F2933"/>
                          </a:solidFill>
                        </a:rPr>
                        <a:t>41 %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1F5F9"/>
                    </a:solidFill>
                  </a:tcPr>
                </a:tc>
                <a:tc>
                  <a:txBody>
                    <a:bodyPr/>
                    <a:lstStyle/>
                    <a:p>
                      <a:pPr algn="r" indent="0" marL="0">
                        <a:buNone/>
                      </a:pPr>
                      <a:r>
                        <a:rPr lang="en-US" sz="1400" dirty="0">
                          <a:solidFill>
                            <a:srgbClr val="1F2933"/>
                          </a:solidFill>
                        </a:rPr>
                        <a:t>41 %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1F5F9"/>
                    </a:solidFill>
                  </a:tcPr>
                </a:tc>
              </a:tr>
              <a:tr h="502920">
                <a:tc>
                  <a:txBody>
                    <a:bodyPr/>
                    <a:lstStyle/>
                    <a:p>
                      <a:pPr indent="0" marL="0">
                        <a:buNone/>
                      </a:pPr>
                      <a:r>
                        <a:rPr lang="en-US" sz="1400" dirty="0">
                          <a:solidFill>
                            <a:srgbClr val="1F2933"/>
                          </a:solidFill>
                        </a:rPr>
                        <a:t>Fidèles</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39 %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2933"/>
                          </a:solidFill>
                        </a:rPr>
                        <a:t>46 %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46 %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933"/>
                          </a:solidFill>
                        </a:rPr>
                        <a:t>Occasionnels</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1F5F9"/>
                    </a:solidFill>
                  </a:tcPr>
                </a:tc>
                <a:tc>
                  <a:txBody>
                    <a:bodyPr/>
                    <a:lstStyle/>
                    <a:p>
                      <a:pPr algn="r" indent="0" marL="0">
                        <a:buNone/>
                      </a:pPr>
                      <a:r>
                        <a:rPr lang="en-US" sz="1400" dirty="0">
                          <a:solidFill>
                            <a:srgbClr val="1F2933"/>
                          </a:solidFill>
                        </a:rPr>
                        <a:t>24 %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1F5F9"/>
                    </a:solidFill>
                  </a:tcPr>
                </a:tc>
                <a:tc>
                  <a:txBody>
                    <a:bodyPr/>
                    <a:lstStyle/>
                    <a:p>
                      <a:pPr algn="r" indent="0" marL="0">
                        <a:buNone/>
                      </a:pPr>
                      <a:r>
                        <a:rPr lang="en-US" sz="1400" b="1" dirty="0">
                          <a:solidFill>
                            <a:srgbClr val="1F2933"/>
                          </a:solidFill>
                        </a:rPr>
                        <a:t>9 %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1F5F9"/>
                    </a:solidFill>
                  </a:tcPr>
                </a:tc>
                <a:tc>
                  <a:txBody>
                    <a:bodyPr/>
                    <a:lstStyle/>
                    <a:p>
                      <a:pPr algn="r" indent="0" marL="0">
                        <a:buNone/>
                      </a:pPr>
                      <a:r>
                        <a:rPr lang="en-US" sz="1400" dirty="0">
                          <a:solidFill>
                            <a:srgbClr val="1F2933"/>
                          </a:solidFill>
                        </a:rPr>
                        <a:t>9 %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1F5F9"/>
                    </a:solidFill>
                  </a:tcPr>
                </a:tc>
              </a:tr>
              <a:tr h="502920">
                <a:tc>
                  <a:txBody>
                    <a:bodyPr/>
                    <a:lstStyle/>
                    <a:p>
                      <a:pPr indent="0" marL="0">
                        <a:buNone/>
                      </a:pPr>
                      <a:r>
                        <a:rPr lang="en-US" sz="1400" dirty="0">
                          <a:solidFill>
                            <a:srgbClr val="1F2933"/>
                          </a:solidFill>
                        </a:rPr>
                        <a:t>Nouveaux (1 achat)</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27 %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2933"/>
                          </a:solidFill>
                        </a:rPr>
                        <a:t>5 %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5 %</a:t>
                      </a:r>
                      <a:endParaRPr lang="en-US" sz="1400" dirty="0"/>
                    </a:p>
                  </a:txBody>
                  <a:tcPr marL="109728" marR="109728" marT="36576" marB="36576"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r>
            </a:tbl>
          </a:graphicData>
        </a:graphic>
      </p:graphicFrame>
      <p:sp>
        <p:nvSpPr>
          <p:cNvPr id="5" name="Légende segments"/>
          <p:cNvSpPr txBox="1"/>
          <p:nvPr/>
        </p:nvSpPr>
        <p:spPr>
          <a:xfrm>
            <a:off x="6766560" y="4526280"/>
            <a:ext cx="4873752" cy="640080"/>
          </a:xfrm>
          <a:prstGeom prst="rect">
            <a:avLst/>
          </a:prstGeom>
          <a:noFill/>
          <a:ln/>
        </p:spPr>
        <p:txBody>
          <a:bodyPr wrap="square" lIns="0" tIns="0" rIns="0" bIns="0" rtlCol="0" anchor="t"/>
          <a:lstStyle/>
          <a:p>
            <a:pPr indent="0" marL="0">
              <a:buNone/>
            </a:pPr>
            <a:r>
              <a:rPr lang="en-US" sz="1200" dirty="0">
                <a:solidFill>
                  <a:srgbClr val="5B6670"/>
                </a:solidFill>
              </a:rPr>
              <a:t>VIP : top 10 % du CA et ≥ 3 commandes. Fidèles : ≥ 3 commandes. Occasionnels : 2 commandes. Nouveaux : 1 commande.</a:t>
            </a:r>
            <a:endParaRPr lang="en-US" sz="1200" dirty="0"/>
          </a:p>
        </p:txBody>
      </p:sp>
      <p:sp>
        <p:nvSpPr>
          <p:cNvPr id="6" name="Message Pareto"/>
          <p:cNvSpPr txBox="1"/>
          <p:nvPr/>
        </p:nvSpPr>
        <p:spPr>
          <a:xfrm>
            <a:off x="6766560" y="5257800"/>
            <a:ext cx="4873752" cy="731520"/>
          </a:xfrm>
          <a:prstGeom prst="rect">
            <a:avLst/>
          </a:prstGeom>
          <a:noFill/>
          <a:ln/>
        </p:spPr>
        <p:txBody>
          <a:bodyPr wrap="square" lIns="0" tIns="0" rIns="0" bIns="0" rtlCol="0" anchor="t"/>
          <a:lstStyle/>
          <a:p>
            <a:pPr indent="0" marL="0">
              <a:buNone/>
            </a:pPr>
            <a:r>
              <a:rPr lang="en-US" sz="1500" b="1" dirty="0">
                <a:solidFill>
                  <a:schemeClr val="tx2"/>
                </a:solidFill>
              </a:rPr>
              <a:t>Le top 10 des clients ne pèse que 3,9 % du CA : aucune dépendance à un compte isolé.</a:t>
            </a:r>
            <a:endParaRPr lang="en-US" sz="15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La base est déjà fidèle à 73 % : le gain est dans trois poches précises de clients</a:t>
            </a:r>
            <a:endParaRPr lang="en-US" sz="3400" dirty="0"/>
          </a:p>
        </p:txBody>
      </p:sp>
      <p:sp>
        <p:nvSpPr>
          <p:cNvPr id="3" name="Carte poche"/>
          <p:cNvSpPr/>
          <p:nvPr/>
        </p:nvSpPr>
        <p:spPr>
          <a:xfrm>
            <a:off x="548640" y="1783080"/>
            <a:ext cx="3593592" cy="3749040"/>
          </a:xfrm>
          <a:prstGeom prst="roundRect">
            <a:avLst>
              <a:gd name="adj" fmla="val 2036"/>
            </a:avLst>
          </a:prstGeom>
          <a:solidFill>
            <a:schemeClr val="bg2"/>
          </a:solidFill>
          <a:ln/>
        </p:spPr>
      </p:sp>
      <p:sp>
        <p:nvSpPr>
          <p:cNvPr id="4" name="Pastille clients à un seul achat (27 %)"/>
          <p:cNvSpPr/>
          <p:nvPr/>
        </p:nvSpPr>
        <p:spPr>
          <a:xfrm>
            <a:off x="822960" y="2011680"/>
            <a:ext cx="731520" cy="731520"/>
          </a:xfrm>
          <a:prstGeom prst="ellipse">
            <a:avLst/>
          </a:prstGeom>
          <a:solidFill>
            <a:schemeClr val="accent1"/>
          </a:solidFill>
          <a:ln/>
        </p:spPr>
      </p:sp>
      <p:pic>
        <p:nvPicPr>
          <p:cNvPr id="5" name="Icône clients à un seul achat (27 %)" descr="clients à un seul achat (27 %)">    </p:cNvPr>
          <p:cNvPicPr>
            <a:picLocks noChangeAspect="1"/>
          </p:cNvPicPr>
          <p:nvPr/>
        </p:nvPicPr>
        <p:blipFill>
          <a:blip r:embed="rId1"/>
          <a:stretch>
            <a:fillRect/>
          </a:stretch>
        </p:blipFill>
        <p:spPr>
          <a:xfrm>
            <a:off x="1005840" y="2194560"/>
            <a:ext cx="365760" cy="365760"/>
          </a:xfrm>
          <a:prstGeom prst="rect">
            <a:avLst/>
          </a:prstGeom>
        </p:spPr>
      </p:pic>
      <p:sp>
        <p:nvSpPr>
          <p:cNvPr id="6" name="Chiffre poche"/>
          <p:cNvSpPr txBox="1"/>
          <p:nvPr/>
        </p:nvSpPr>
        <p:spPr>
          <a:xfrm>
            <a:off x="1737360" y="2011680"/>
            <a:ext cx="2221992" cy="731520"/>
          </a:xfrm>
          <a:prstGeom prst="rect">
            <a:avLst/>
          </a:prstGeom>
          <a:noFill/>
          <a:ln/>
        </p:spPr>
        <p:txBody>
          <a:bodyPr wrap="square" lIns="0" tIns="0" rIns="0" bIns="0" rtlCol="0" anchor="ctr"/>
          <a:lstStyle/>
          <a:p>
            <a:pPr indent="0" marL="0">
              <a:buNone/>
            </a:pPr>
            <a:r>
              <a:rPr lang="en-US" sz="4800" b="1" dirty="0">
                <a:solidFill>
                  <a:schemeClr val="accent1"/>
                </a:solidFill>
              </a:rPr>
              <a:t>465</a:t>
            </a:r>
            <a:endParaRPr lang="en-US" sz="4800" dirty="0"/>
          </a:p>
        </p:txBody>
      </p:sp>
      <p:sp>
        <p:nvSpPr>
          <p:cNvPr id="7" name="Libellé poche"/>
          <p:cNvSpPr txBox="1"/>
          <p:nvPr/>
        </p:nvSpPr>
        <p:spPr>
          <a:xfrm>
            <a:off x="822960" y="2926080"/>
            <a:ext cx="3044952" cy="1143000"/>
          </a:xfrm>
          <a:prstGeom prst="rect">
            <a:avLst/>
          </a:prstGeom>
          <a:noFill/>
          <a:ln/>
        </p:spPr>
        <p:txBody>
          <a:bodyPr wrap="square" lIns="0" tIns="0" rIns="0" bIns="0" rtlCol="0" anchor="t"/>
          <a:lstStyle/>
          <a:p>
            <a:pPr indent="0" marL="0">
              <a:buNone/>
            </a:pPr>
            <a:r>
              <a:rPr lang="en-US" sz="1800" b="1" dirty="0">
                <a:solidFill>
                  <a:schemeClr val="tx2"/>
                </a:solidFill>
              </a:rPr>
              <a:t>clients à un seul achat (27 %)</a:t>
            </a:r>
            <a:endParaRPr lang="en-US" sz="1800" dirty="0"/>
          </a:p>
        </p:txBody>
      </p:sp>
      <p:sp>
        <p:nvSpPr>
          <p:cNvPr id="8" name="Action poche"/>
          <p:cNvSpPr txBox="1"/>
          <p:nvPr/>
        </p:nvSpPr>
        <p:spPr>
          <a:xfrm>
            <a:off x="822960" y="4206240"/>
            <a:ext cx="3044952" cy="1188720"/>
          </a:xfrm>
          <a:prstGeom prst="rect">
            <a:avLst/>
          </a:prstGeom>
          <a:noFill/>
          <a:ln/>
        </p:spPr>
        <p:txBody>
          <a:bodyPr wrap="square" lIns="0" tIns="0" rIns="0" bIns="0" rtlCol="0" anchor="t"/>
          <a:lstStyle/>
          <a:p>
            <a:pPr indent="0" marL="0">
              <a:buNone/>
            </a:pPr>
            <a:r>
              <a:rPr lang="en-US" sz="1600" dirty="0">
                <a:solidFill>
                  <a:schemeClr val="tx1"/>
                </a:solidFill>
              </a:rPr>
              <a:t>Offre de 2ᵉ achat sous 25 jours, le délai médian entre deux commandes</a:t>
            </a:r>
            <a:endParaRPr lang="en-US" sz="1600" dirty="0"/>
          </a:p>
        </p:txBody>
      </p:sp>
      <p:sp>
        <p:nvSpPr>
          <p:cNvPr id="9" name="Carte poche"/>
          <p:cNvSpPr/>
          <p:nvPr/>
        </p:nvSpPr>
        <p:spPr>
          <a:xfrm>
            <a:off x="4297680" y="1783080"/>
            <a:ext cx="3593592" cy="3749040"/>
          </a:xfrm>
          <a:prstGeom prst="roundRect">
            <a:avLst>
              <a:gd name="adj" fmla="val 2036"/>
            </a:avLst>
          </a:prstGeom>
          <a:solidFill>
            <a:schemeClr val="bg2"/>
          </a:solidFill>
          <a:ln/>
        </p:spPr>
      </p:sp>
      <p:sp>
        <p:nvSpPr>
          <p:cNvPr id="10" name="Pastille clients récurrents inactifs depuis plus de 90 jours (63 k UM de CA)"/>
          <p:cNvSpPr/>
          <p:nvPr/>
        </p:nvSpPr>
        <p:spPr>
          <a:xfrm>
            <a:off x="4572000" y="2011680"/>
            <a:ext cx="731520" cy="731520"/>
          </a:xfrm>
          <a:prstGeom prst="ellipse">
            <a:avLst/>
          </a:prstGeom>
          <a:solidFill>
            <a:schemeClr val="accent6"/>
          </a:solidFill>
          <a:ln/>
        </p:spPr>
      </p:sp>
      <p:pic>
        <p:nvPicPr>
          <p:cNvPr id="11" name="Icône clients récurrents inactifs depuis plus de 90 jours (63 k UM de CA)" descr="clients récurrents inactifs depuis plus de 90 jours (63 k UM de CA)">    </p:cNvPr>
          <p:cNvPicPr>
            <a:picLocks noChangeAspect="1"/>
          </p:cNvPicPr>
          <p:nvPr/>
        </p:nvPicPr>
        <p:blipFill>
          <a:blip r:embed="rId2"/>
          <a:stretch>
            <a:fillRect/>
          </a:stretch>
        </p:blipFill>
        <p:spPr>
          <a:xfrm>
            <a:off x="4754880" y="2194560"/>
            <a:ext cx="365760" cy="365760"/>
          </a:xfrm>
          <a:prstGeom prst="rect">
            <a:avLst/>
          </a:prstGeom>
        </p:spPr>
      </p:pic>
      <p:sp>
        <p:nvSpPr>
          <p:cNvPr id="12" name="Chiffre poche"/>
          <p:cNvSpPr txBox="1"/>
          <p:nvPr/>
        </p:nvSpPr>
        <p:spPr>
          <a:xfrm>
            <a:off x="5486400" y="2011680"/>
            <a:ext cx="2221992" cy="731520"/>
          </a:xfrm>
          <a:prstGeom prst="rect">
            <a:avLst/>
          </a:prstGeom>
          <a:noFill/>
          <a:ln/>
        </p:spPr>
        <p:txBody>
          <a:bodyPr wrap="square" lIns="0" tIns="0" rIns="0" bIns="0" rtlCol="0" anchor="ctr"/>
          <a:lstStyle/>
          <a:p>
            <a:pPr indent="0" marL="0">
              <a:buNone/>
            </a:pPr>
            <a:r>
              <a:rPr lang="en-US" sz="4800" b="1" dirty="0">
                <a:solidFill>
                  <a:schemeClr val="accent6"/>
                </a:solidFill>
              </a:rPr>
              <a:t>130</a:t>
            </a:r>
            <a:endParaRPr lang="en-US" sz="4800" dirty="0"/>
          </a:p>
        </p:txBody>
      </p:sp>
      <p:sp>
        <p:nvSpPr>
          <p:cNvPr id="13" name="Libellé poche"/>
          <p:cNvSpPr txBox="1"/>
          <p:nvPr/>
        </p:nvSpPr>
        <p:spPr>
          <a:xfrm>
            <a:off x="4572000" y="2926080"/>
            <a:ext cx="3044952" cy="1143000"/>
          </a:xfrm>
          <a:prstGeom prst="rect">
            <a:avLst/>
          </a:prstGeom>
          <a:noFill/>
          <a:ln/>
        </p:spPr>
        <p:txBody>
          <a:bodyPr wrap="square" lIns="0" tIns="0" rIns="0" bIns="0" rtlCol="0" anchor="t"/>
          <a:lstStyle/>
          <a:p>
            <a:pPr indent="0" marL="0">
              <a:buNone/>
            </a:pPr>
            <a:r>
              <a:rPr lang="en-US" sz="1800" b="1" dirty="0">
                <a:solidFill>
                  <a:schemeClr val="tx2"/>
                </a:solidFill>
              </a:rPr>
              <a:t>clients récurrents inactifs depuis plus de 90 jours (63 k UM de CA)</a:t>
            </a:r>
            <a:endParaRPr lang="en-US" sz="1800" dirty="0"/>
          </a:p>
        </p:txBody>
      </p:sp>
      <p:sp>
        <p:nvSpPr>
          <p:cNvPr id="14" name="Action poche"/>
          <p:cNvSpPr txBox="1"/>
          <p:nvPr/>
        </p:nvSpPr>
        <p:spPr>
          <a:xfrm>
            <a:off x="4572000" y="4206240"/>
            <a:ext cx="3044952" cy="1188720"/>
          </a:xfrm>
          <a:prstGeom prst="rect">
            <a:avLst/>
          </a:prstGeom>
          <a:noFill/>
          <a:ln/>
        </p:spPr>
        <p:txBody>
          <a:bodyPr wrap="square" lIns="0" tIns="0" rIns="0" bIns="0" rtlCol="0" anchor="t"/>
          <a:lstStyle/>
          <a:p>
            <a:pPr indent="0" marL="0">
              <a:buNone/>
            </a:pPr>
            <a:r>
              <a:rPr lang="en-US" sz="1600" dirty="0">
                <a:solidFill>
                  <a:schemeClr val="tx1"/>
                </a:solidFill>
              </a:rPr>
              <a:t>Campagne de réactivation à J+60 et J+90</a:t>
            </a:r>
            <a:endParaRPr lang="en-US" sz="1600" dirty="0"/>
          </a:p>
        </p:txBody>
      </p:sp>
      <p:sp>
        <p:nvSpPr>
          <p:cNvPr id="15" name="Carte poche"/>
          <p:cNvSpPr/>
          <p:nvPr/>
        </p:nvSpPr>
        <p:spPr>
          <a:xfrm>
            <a:off x="8046720" y="1783080"/>
            <a:ext cx="3593592" cy="3749040"/>
          </a:xfrm>
          <a:prstGeom prst="roundRect">
            <a:avLst>
              <a:gd name="adj" fmla="val 2036"/>
            </a:avLst>
          </a:prstGeom>
          <a:solidFill>
            <a:schemeClr val="bg2"/>
          </a:solidFill>
          <a:ln/>
        </p:spPr>
      </p:sp>
      <p:sp>
        <p:nvSpPr>
          <p:cNvPr id="16" name="Pastille clients VIP, 41 % du CA"/>
          <p:cNvSpPr/>
          <p:nvPr/>
        </p:nvSpPr>
        <p:spPr>
          <a:xfrm>
            <a:off x="8321040" y="2011680"/>
            <a:ext cx="731520" cy="731520"/>
          </a:xfrm>
          <a:prstGeom prst="ellipse">
            <a:avLst/>
          </a:prstGeom>
          <a:solidFill>
            <a:schemeClr val="accent1"/>
          </a:solidFill>
          <a:ln/>
        </p:spPr>
      </p:sp>
      <p:pic>
        <p:nvPicPr>
          <p:cNvPr id="17" name="Icône clients VIP, 41 % du CA" descr="clients VIP, 41 % du CA">    </p:cNvPr>
          <p:cNvPicPr>
            <a:picLocks noChangeAspect="1"/>
          </p:cNvPicPr>
          <p:nvPr/>
        </p:nvPicPr>
        <p:blipFill>
          <a:blip r:embed="rId3"/>
          <a:stretch>
            <a:fillRect/>
          </a:stretch>
        </p:blipFill>
        <p:spPr>
          <a:xfrm>
            <a:off x="8503920" y="2194560"/>
            <a:ext cx="365760" cy="365760"/>
          </a:xfrm>
          <a:prstGeom prst="rect">
            <a:avLst/>
          </a:prstGeom>
        </p:spPr>
      </p:pic>
      <p:sp>
        <p:nvSpPr>
          <p:cNvPr id="18" name="Chiffre poche"/>
          <p:cNvSpPr txBox="1"/>
          <p:nvPr/>
        </p:nvSpPr>
        <p:spPr>
          <a:xfrm>
            <a:off x="9235440" y="2011680"/>
            <a:ext cx="2221992" cy="731520"/>
          </a:xfrm>
          <a:prstGeom prst="rect">
            <a:avLst/>
          </a:prstGeom>
          <a:noFill/>
          <a:ln/>
        </p:spPr>
        <p:txBody>
          <a:bodyPr wrap="square" lIns="0" tIns="0" rIns="0" bIns="0" rtlCol="0" anchor="ctr"/>
          <a:lstStyle/>
          <a:p>
            <a:pPr indent="0" marL="0">
              <a:buNone/>
            </a:pPr>
            <a:r>
              <a:rPr lang="en-US" sz="4800" b="1" dirty="0">
                <a:solidFill>
                  <a:schemeClr val="accent1"/>
                </a:solidFill>
              </a:rPr>
              <a:t>174</a:t>
            </a:r>
            <a:endParaRPr lang="en-US" sz="4800" dirty="0"/>
          </a:p>
        </p:txBody>
      </p:sp>
      <p:sp>
        <p:nvSpPr>
          <p:cNvPr id="19" name="Libellé poche"/>
          <p:cNvSpPr txBox="1"/>
          <p:nvPr/>
        </p:nvSpPr>
        <p:spPr>
          <a:xfrm>
            <a:off x="8321040" y="2926080"/>
            <a:ext cx="3044952" cy="1143000"/>
          </a:xfrm>
          <a:prstGeom prst="rect">
            <a:avLst/>
          </a:prstGeom>
          <a:noFill/>
          <a:ln/>
        </p:spPr>
        <p:txBody>
          <a:bodyPr wrap="square" lIns="0" tIns="0" rIns="0" bIns="0" rtlCol="0" anchor="t"/>
          <a:lstStyle/>
          <a:p>
            <a:pPr indent="0" marL="0">
              <a:buNone/>
            </a:pPr>
            <a:r>
              <a:rPr lang="en-US" sz="1800" b="1" dirty="0">
                <a:solidFill>
                  <a:schemeClr val="tx2"/>
                </a:solidFill>
              </a:rPr>
              <a:t>clients VIP, 41 % du CA</a:t>
            </a:r>
            <a:endParaRPr lang="en-US" sz="1800" dirty="0"/>
          </a:p>
        </p:txBody>
      </p:sp>
      <p:sp>
        <p:nvSpPr>
          <p:cNvPr id="20" name="Action poche"/>
          <p:cNvSpPr txBox="1"/>
          <p:nvPr/>
        </p:nvSpPr>
        <p:spPr>
          <a:xfrm>
            <a:off x="8321040" y="4206240"/>
            <a:ext cx="3044952" cy="1188720"/>
          </a:xfrm>
          <a:prstGeom prst="rect">
            <a:avLst/>
          </a:prstGeom>
          <a:noFill/>
          <a:ln/>
        </p:spPr>
        <p:txBody>
          <a:bodyPr wrap="square" lIns="0" tIns="0" rIns="0" bIns="0" rtlCol="0" anchor="t"/>
          <a:lstStyle/>
          <a:p>
            <a:pPr indent="0" marL="0">
              <a:buNone/>
            </a:pPr>
            <a:r>
              <a:rPr lang="en-US" sz="1600" dirty="0">
                <a:solidFill>
                  <a:schemeClr val="tx1"/>
                </a:solidFill>
              </a:rPr>
              <a:t>Programme VIP (livraison offerte, accès anticipé) et ventes croisées Maison</a:t>
            </a:r>
            <a:endParaRPr lang="en-US" sz="1600" dirty="0"/>
          </a:p>
        </p:txBody>
      </p:sp>
      <p:sp>
        <p:nvSpPr>
          <p:cNvPr id="21" name="Bandeau réponse"/>
          <p:cNvSpPr/>
          <p:nvPr/>
        </p:nvSpPr>
        <p:spPr>
          <a:xfrm>
            <a:off x="548640" y="5669280"/>
            <a:ext cx="11094415" cy="658368"/>
          </a:xfrm>
          <a:prstGeom prst="roundRect">
            <a:avLst>
              <a:gd name="adj" fmla="val 11111"/>
            </a:avLst>
          </a:prstGeom>
          <a:solidFill>
            <a:schemeClr val="tx2"/>
          </a:solidFill>
          <a:ln/>
        </p:spPr>
      </p:sp>
      <p:sp>
        <p:nvSpPr>
          <p:cNvPr id="22" name="Texte réponse"/>
          <p:cNvSpPr txBox="1"/>
          <p:nvPr/>
        </p:nvSpPr>
        <p:spPr>
          <a:xfrm>
            <a:off x="822960" y="5669280"/>
            <a:ext cx="10545775" cy="658368"/>
          </a:xfrm>
          <a:prstGeom prst="rect">
            <a:avLst/>
          </a:prstGeom>
          <a:noFill/>
          <a:ln/>
        </p:spPr>
        <p:txBody>
          <a:bodyPr wrap="square" lIns="0" tIns="0" rIns="0" bIns="0" rtlCol="0" anchor="ctr"/>
          <a:lstStyle/>
          <a:p>
            <a:pPr indent="0" marL="0">
              <a:buNone/>
            </a:pPr>
            <a:r>
              <a:rPr lang="en-US" sz="1600" b="1" dirty="0">
                <a:solidFill>
                  <a:schemeClr val="bg1"/>
                </a:solidFill>
              </a:rPr>
              <a:t>Objectif : faire passer la récurrence de 73 % à 78 % en six mois</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Cinq actions rapportent ≈ 60 k UM de profit par semestre, sans budget supplémentaire</a:t>
            </a:r>
            <a:endParaRPr lang="en-US" sz="3400" dirty="0"/>
          </a:p>
        </p:txBody>
      </p:sp>
      <p:sp>
        <p:nvSpPr>
          <p:cNvPr id="3" name="Carte reco"/>
          <p:cNvSpPr/>
          <p:nvPr/>
        </p:nvSpPr>
        <p:spPr>
          <a:xfrm>
            <a:off x="548640" y="1737360"/>
            <a:ext cx="5943600" cy="786384"/>
          </a:xfrm>
          <a:prstGeom prst="roundRect">
            <a:avLst>
              <a:gd name="adj" fmla="val 9302"/>
            </a:avLst>
          </a:prstGeom>
          <a:solidFill>
            <a:schemeClr val="bg2"/>
          </a:solidFill>
          <a:ln/>
        </p:spPr>
      </p:sp>
      <p:sp>
        <p:nvSpPr>
          <p:cNvPr id="4" name="Numéro reco"/>
          <p:cNvSpPr/>
          <p:nvPr/>
        </p:nvSpPr>
        <p:spPr>
          <a:xfrm>
            <a:off x="731520" y="1883664"/>
            <a:ext cx="493776" cy="493776"/>
          </a:xfrm>
          <a:prstGeom prst="ellipse">
            <a:avLst/>
          </a:prstGeom>
          <a:solidFill>
            <a:schemeClr val="accent1"/>
          </a:solidFill>
          <a:ln/>
        </p:spPr>
      </p:sp>
      <p:sp>
        <p:nvSpPr>
          <p:cNvPr id="5" name="Chiffre reco"/>
          <p:cNvSpPr txBox="1"/>
          <p:nvPr/>
        </p:nvSpPr>
        <p:spPr>
          <a:xfrm>
            <a:off x="731520" y="1883664"/>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itre reco"/>
          <p:cNvSpPr txBox="1"/>
          <p:nvPr/>
        </p:nvSpPr>
        <p:spPr>
          <a:xfrm>
            <a:off x="1417320" y="1819656"/>
            <a:ext cx="4937760" cy="365760"/>
          </a:xfrm>
          <a:prstGeom prst="rect">
            <a:avLst/>
          </a:prstGeom>
          <a:noFill/>
          <a:ln/>
        </p:spPr>
        <p:txBody>
          <a:bodyPr wrap="square" lIns="0" tIns="0" rIns="0" bIns="0" rtlCol="0" anchor="t"/>
          <a:lstStyle/>
          <a:p>
            <a:pPr indent="0" marL="0">
              <a:buNone/>
            </a:pPr>
            <a:r>
              <a:rPr lang="en-US" sz="1600" b="1" dirty="0">
                <a:solidFill>
                  <a:schemeClr val="tx2"/>
                </a:solidFill>
              </a:rPr>
              <a:t>Corriger les annulations à Douala</a:t>
            </a:r>
            <a:endParaRPr lang="en-US" sz="1600" dirty="0"/>
          </a:p>
        </p:txBody>
      </p:sp>
      <p:sp>
        <p:nvSpPr>
          <p:cNvPr id="7" name="Détail reco"/>
          <p:cNvSpPr txBox="1"/>
          <p:nvPr/>
        </p:nvSpPr>
        <p:spPr>
          <a:xfrm>
            <a:off x="1417320" y="2167128"/>
            <a:ext cx="4937760" cy="320040"/>
          </a:xfrm>
          <a:prstGeom prst="rect">
            <a:avLst/>
          </a:prstGeom>
          <a:noFill/>
          <a:ln/>
        </p:spPr>
        <p:txBody>
          <a:bodyPr wrap="square" lIns="0" tIns="0" rIns="0" bIns="0" rtlCol="0" anchor="t"/>
          <a:lstStyle/>
          <a:p>
            <a:pPr indent="0" marL="0">
              <a:buNone/>
            </a:pPr>
            <a:r>
              <a:rPr lang="en-US" sz="1300" dirty="0">
                <a:solidFill>
                  <a:schemeClr val="tx1"/>
                </a:solidFill>
              </a:rPr>
              <a:t>Audit opérationnel en 30 jours</a:t>
            </a:r>
            <a:endParaRPr lang="en-US" sz="1300" dirty="0"/>
          </a:p>
        </p:txBody>
      </p:sp>
      <p:sp>
        <p:nvSpPr>
          <p:cNvPr id="8" name="Carte reco"/>
          <p:cNvSpPr/>
          <p:nvPr/>
        </p:nvSpPr>
        <p:spPr>
          <a:xfrm>
            <a:off x="548640" y="2633472"/>
            <a:ext cx="5943600" cy="786384"/>
          </a:xfrm>
          <a:prstGeom prst="roundRect">
            <a:avLst>
              <a:gd name="adj" fmla="val 9302"/>
            </a:avLst>
          </a:prstGeom>
          <a:solidFill>
            <a:schemeClr val="bg2"/>
          </a:solidFill>
          <a:ln/>
        </p:spPr>
      </p:sp>
      <p:sp>
        <p:nvSpPr>
          <p:cNvPr id="9" name="Numéro reco"/>
          <p:cNvSpPr/>
          <p:nvPr/>
        </p:nvSpPr>
        <p:spPr>
          <a:xfrm>
            <a:off x="731520" y="2779776"/>
            <a:ext cx="493776" cy="493776"/>
          </a:xfrm>
          <a:prstGeom prst="ellipse">
            <a:avLst/>
          </a:prstGeom>
          <a:solidFill>
            <a:schemeClr val="accent1"/>
          </a:solidFill>
          <a:ln/>
        </p:spPr>
      </p:sp>
      <p:sp>
        <p:nvSpPr>
          <p:cNvPr id="10" name="Chiffre reco"/>
          <p:cNvSpPr txBox="1"/>
          <p:nvPr/>
        </p:nvSpPr>
        <p:spPr>
          <a:xfrm>
            <a:off x="731520" y="2779776"/>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itre reco"/>
          <p:cNvSpPr txBox="1"/>
          <p:nvPr/>
        </p:nvSpPr>
        <p:spPr>
          <a:xfrm>
            <a:off x="1417320" y="2715768"/>
            <a:ext cx="4937760" cy="365760"/>
          </a:xfrm>
          <a:prstGeom prst="rect">
            <a:avLst/>
          </a:prstGeom>
          <a:noFill/>
          <a:ln/>
        </p:spPr>
        <p:txBody>
          <a:bodyPr wrap="square" lIns="0" tIns="0" rIns="0" bIns="0" rtlCol="0" anchor="t"/>
          <a:lstStyle/>
          <a:p>
            <a:pPr indent="0" marL="0">
              <a:buNone/>
            </a:pPr>
            <a:r>
              <a:rPr lang="en-US" sz="1600" b="1" dirty="0">
                <a:solidFill>
                  <a:schemeClr val="tx2"/>
                </a:solidFill>
              </a:rPr>
              <a:t>Réduire les retours Électronique</a:t>
            </a:r>
            <a:endParaRPr lang="en-US" sz="1600" dirty="0"/>
          </a:p>
        </p:txBody>
      </p:sp>
      <p:sp>
        <p:nvSpPr>
          <p:cNvPr id="12" name="Détail reco"/>
          <p:cNvSpPr txBox="1"/>
          <p:nvPr/>
        </p:nvSpPr>
        <p:spPr>
          <a:xfrm>
            <a:off x="1417320" y="3063240"/>
            <a:ext cx="4937760" cy="320040"/>
          </a:xfrm>
          <a:prstGeom prst="rect">
            <a:avLst/>
          </a:prstGeom>
          <a:noFill/>
          <a:ln/>
        </p:spPr>
        <p:txBody>
          <a:bodyPr wrap="square" lIns="0" tIns="0" rIns="0" bIns="0" rtlCol="0" anchor="t"/>
          <a:lstStyle/>
          <a:p>
            <a:pPr indent="0" marL="0">
              <a:buNone/>
            </a:pPr>
            <a:r>
              <a:rPr lang="en-US" sz="1300" dirty="0">
                <a:solidFill>
                  <a:schemeClr val="tx1"/>
                </a:solidFill>
              </a:rPr>
              <a:t>Qualité, fiches produit, contrôle avant expédition</a:t>
            </a:r>
            <a:endParaRPr lang="en-US" sz="1300" dirty="0"/>
          </a:p>
        </p:txBody>
      </p:sp>
      <p:sp>
        <p:nvSpPr>
          <p:cNvPr id="13" name="Carte reco"/>
          <p:cNvSpPr/>
          <p:nvPr/>
        </p:nvSpPr>
        <p:spPr>
          <a:xfrm>
            <a:off x="548640" y="3529584"/>
            <a:ext cx="5943600" cy="786384"/>
          </a:xfrm>
          <a:prstGeom prst="roundRect">
            <a:avLst>
              <a:gd name="adj" fmla="val 9302"/>
            </a:avLst>
          </a:prstGeom>
          <a:solidFill>
            <a:schemeClr val="bg2"/>
          </a:solidFill>
          <a:ln/>
        </p:spPr>
      </p:sp>
      <p:sp>
        <p:nvSpPr>
          <p:cNvPr id="14" name="Numéro reco"/>
          <p:cNvSpPr/>
          <p:nvPr/>
        </p:nvSpPr>
        <p:spPr>
          <a:xfrm>
            <a:off x="731520" y="3675888"/>
            <a:ext cx="493776" cy="493776"/>
          </a:xfrm>
          <a:prstGeom prst="ellipse">
            <a:avLst/>
          </a:prstGeom>
          <a:solidFill>
            <a:schemeClr val="accent1"/>
          </a:solidFill>
          <a:ln/>
        </p:spPr>
      </p:sp>
      <p:sp>
        <p:nvSpPr>
          <p:cNvPr id="15" name="Chiffre reco"/>
          <p:cNvSpPr txBox="1"/>
          <p:nvPr/>
        </p:nvSpPr>
        <p:spPr>
          <a:xfrm>
            <a:off x="731520" y="3675888"/>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itre reco"/>
          <p:cNvSpPr txBox="1"/>
          <p:nvPr/>
        </p:nvSpPr>
        <p:spPr>
          <a:xfrm>
            <a:off x="1417320" y="3611880"/>
            <a:ext cx="4937760" cy="365760"/>
          </a:xfrm>
          <a:prstGeom prst="rect">
            <a:avLst/>
          </a:prstGeom>
          <a:noFill/>
          <a:ln/>
        </p:spPr>
        <p:txBody>
          <a:bodyPr wrap="square" lIns="0" tIns="0" rIns="0" bIns="0" rtlCol="0" anchor="t"/>
          <a:lstStyle/>
          <a:p>
            <a:pPr indent="0" marL="0">
              <a:buNone/>
            </a:pPr>
            <a:r>
              <a:rPr lang="en-US" sz="1600" b="1" dirty="0">
                <a:solidFill>
                  <a:schemeClr val="tx2"/>
                </a:solidFill>
              </a:rPr>
              <a:t>Réallouer le marketing</a:t>
            </a:r>
            <a:endParaRPr lang="en-US" sz="1600" dirty="0"/>
          </a:p>
        </p:txBody>
      </p:sp>
      <p:sp>
        <p:nvSpPr>
          <p:cNvPr id="17" name="Détail reco"/>
          <p:cNvSpPr txBox="1"/>
          <p:nvPr/>
        </p:nvSpPr>
        <p:spPr>
          <a:xfrm>
            <a:off x="1417320" y="3959352"/>
            <a:ext cx="4937760" cy="320040"/>
          </a:xfrm>
          <a:prstGeom prst="rect">
            <a:avLst/>
          </a:prstGeom>
          <a:noFill/>
          <a:ln/>
        </p:spPr>
        <p:txBody>
          <a:bodyPr wrap="square" lIns="0" tIns="0" rIns="0" bIns="0" rtlCol="0" anchor="t"/>
          <a:lstStyle/>
          <a:p>
            <a:pPr indent="0" marL="0">
              <a:buNone/>
            </a:pPr>
            <a:r>
              <a:rPr lang="en-US" sz="1300" dirty="0">
                <a:solidFill>
                  <a:schemeClr val="tx1"/>
                </a:solidFill>
              </a:rPr>
              <a:t>Instagram vers Google Ads et Email, par paliers</a:t>
            </a:r>
            <a:endParaRPr lang="en-US" sz="1300" dirty="0"/>
          </a:p>
        </p:txBody>
      </p:sp>
      <p:sp>
        <p:nvSpPr>
          <p:cNvPr id="18" name="Carte reco"/>
          <p:cNvSpPr/>
          <p:nvPr/>
        </p:nvSpPr>
        <p:spPr>
          <a:xfrm>
            <a:off x="548640" y="4425696"/>
            <a:ext cx="5943600" cy="786384"/>
          </a:xfrm>
          <a:prstGeom prst="roundRect">
            <a:avLst>
              <a:gd name="adj" fmla="val 9302"/>
            </a:avLst>
          </a:prstGeom>
          <a:solidFill>
            <a:schemeClr val="bg2"/>
          </a:solidFill>
          <a:ln/>
        </p:spPr>
      </p:sp>
      <p:sp>
        <p:nvSpPr>
          <p:cNvPr id="19" name="Numéro reco"/>
          <p:cNvSpPr/>
          <p:nvPr/>
        </p:nvSpPr>
        <p:spPr>
          <a:xfrm>
            <a:off x="731520" y="4572000"/>
            <a:ext cx="493776" cy="493776"/>
          </a:xfrm>
          <a:prstGeom prst="ellipse">
            <a:avLst/>
          </a:prstGeom>
          <a:solidFill>
            <a:schemeClr val="accent1"/>
          </a:solidFill>
          <a:ln/>
        </p:spPr>
      </p:sp>
      <p:sp>
        <p:nvSpPr>
          <p:cNvPr id="20" name="Chiffre reco"/>
          <p:cNvSpPr txBox="1"/>
          <p:nvPr/>
        </p:nvSpPr>
        <p:spPr>
          <a:xfrm>
            <a:off x="731520" y="4572000"/>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itre reco"/>
          <p:cNvSpPr txBox="1"/>
          <p:nvPr/>
        </p:nvSpPr>
        <p:spPr>
          <a:xfrm>
            <a:off x="1417320" y="4507992"/>
            <a:ext cx="4937760" cy="365760"/>
          </a:xfrm>
          <a:prstGeom prst="rect">
            <a:avLst/>
          </a:prstGeom>
          <a:noFill/>
          <a:ln/>
        </p:spPr>
        <p:txBody>
          <a:bodyPr wrap="square" lIns="0" tIns="0" rIns="0" bIns="0" rtlCol="0" anchor="t"/>
          <a:lstStyle/>
          <a:p>
            <a:pPr indent="0" marL="0">
              <a:buNone/>
            </a:pPr>
            <a:r>
              <a:rPr lang="en-US" sz="1600" b="1" dirty="0">
                <a:solidFill>
                  <a:schemeClr val="tx2"/>
                </a:solidFill>
              </a:rPr>
              <a:t>Prioriser Maison, redresser Mode</a:t>
            </a:r>
            <a:endParaRPr lang="en-US" sz="1600" dirty="0"/>
          </a:p>
        </p:txBody>
      </p:sp>
      <p:sp>
        <p:nvSpPr>
          <p:cNvPr id="22" name="Détail reco"/>
          <p:cNvSpPr txBox="1"/>
          <p:nvPr/>
        </p:nvSpPr>
        <p:spPr>
          <a:xfrm>
            <a:off x="1417320" y="4855464"/>
            <a:ext cx="4937760" cy="320040"/>
          </a:xfrm>
          <a:prstGeom prst="rect">
            <a:avLst/>
          </a:prstGeom>
          <a:noFill/>
          <a:ln/>
        </p:spPr>
        <p:txBody>
          <a:bodyPr wrap="square" lIns="0" tIns="0" rIns="0" bIns="0" rtlCol="0" anchor="t"/>
          <a:lstStyle/>
          <a:p>
            <a:pPr indent="0" marL="0">
              <a:buNone/>
            </a:pPr>
            <a:r>
              <a:rPr lang="en-US" sz="1300" dirty="0">
                <a:solidFill>
                  <a:schemeClr val="tx1"/>
                </a:solidFill>
              </a:rPr>
              <a:t>Stock du pic de fin d'année, ventes croisées</a:t>
            </a:r>
            <a:endParaRPr lang="en-US" sz="1300" dirty="0"/>
          </a:p>
        </p:txBody>
      </p:sp>
      <p:sp>
        <p:nvSpPr>
          <p:cNvPr id="23" name="Carte reco"/>
          <p:cNvSpPr/>
          <p:nvPr/>
        </p:nvSpPr>
        <p:spPr>
          <a:xfrm>
            <a:off x="548640" y="5321808"/>
            <a:ext cx="5943600" cy="786384"/>
          </a:xfrm>
          <a:prstGeom prst="roundRect">
            <a:avLst>
              <a:gd name="adj" fmla="val 9302"/>
            </a:avLst>
          </a:prstGeom>
          <a:solidFill>
            <a:schemeClr val="bg2"/>
          </a:solidFill>
          <a:ln/>
        </p:spPr>
      </p:sp>
      <p:sp>
        <p:nvSpPr>
          <p:cNvPr id="24" name="Numéro reco"/>
          <p:cNvSpPr/>
          <p:nvPr/>
        </p:nvSpPr>
        <p:spPr>
          <a:xfrm>
            <a:off x="731520" y="5468112"/>
            <a:ext cx="493776" cy="493776"/>
          </a:xfrm>
          <a:prstGeom prst="ellipse">
            <a:avLst/>
          </a:prstGeom>
          <a:solidFill>
            <a:schemeClr val="accent1"/>
          </a:solidFill>
          <a:ln/>
        </p:spPr>
      </p:sp>
      <p:sp>
        <p:nvSpPr>
          <p:cNvPr id="25" name="Chiffre reco"/>
          <p:cNvSpPr txBox="1"/>
          <p:nvPr/>
        </p:nvSpPr>
        <p:spPr>
          <a:xfrm>
            <a:off x="731520" y="546811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itre reco"/>
          <p:cNvSpPr txBox="1"/>
          <p:nvPr/>
        </p:nvSpPr>
        <p:spPr>
          <a:xfrm>
            <a:off x="1417320" y="5404104"/>
            <a:ext cx="4937760" cy="365760"/>
          </a:xfrm>
          <a:prstGeom prst="rect">
            <a:avLst/>
          </a:prstGeom>
          <a:noFill/>
          <a:ln/>
        </p:spPr>
        <p:txBody>
          <a:bodyPr wrap="square" lIns="0" tIns="0" rIns="0" bIns="0" rtlCol="0" anchor="t"/>
          <a:lstStyle/>
          <a:p>
            <a:pPr indent="0" marL="0">
              <a:buNone/>
            </a:pPr>
            <a:r>
              <a:rPr lang="en-US" sz="1600" b="1" dirty="0">
                <a:solidFill>
                  <a:schemeClr val="tx2"/>
                </a:solidFill>
              </a:rPr>
              <a:t>Programme de rétention</a:t>
            </a:r>
            <a:endParaRPr lang="en-US" sz="1600" dirty="0"/>
          </a:p>
        </p:txBody>
      </p:sp>
      <p:sp>
        <p:nvSpPr>
          <p:cNvPr id="27" name="Détail reco"/>
          <p:cNvSpPr txBox="1"/>
          <p:nvPr/>
        </p:nvSpPr>
        <p:spPr>
          <a:xfrm>
            <a:off x="1417320" y="5751576"/>
            <a:ext cx="4937760" cy="320040"/>
          </a:xfrm>
          <a:prstGeom prst="rect">
            <a:avLst/>
          </a:prstGeom>
          <a:noFill/>
          <a:ln/>
        </p:spPr>
        <p:txBody>
          <a:bodyPr wrap="square" lIns="0" tIns="0" rIns="0" bIns="0" rtlCol="0" anchor="t"/>
          <a:lstStyle/>
          <a:p>
            <a:pPr indent="0" marL="0">
              <a:buNone/>
            </a:pPr>
            <a:r>
              <a:rPr lang="en-US" sz="1300" dirty="0">
                <a:solidFill>
                  <a:schemeClr val="tx1"/>
                </a:solidFill>
              </a:rPr>
              <a:t>2ᵉ achat, réactivation, VIP</a:t>
            </a:r>
            <a:endParaRPr lang="en-US" sz="1300" dirty="0"/>
          </a:p>
        </p:txBody>
      </p:sp>
      <p:graphicFrame>
        <p:nvGraphicFramePr>
          <p:cNvPr id="28" name="Graphique impacts" descr=""/>
          <p:cNvGraphicFramePr/>
          <p:nvPr/>
        </p:nvGraphicFramePr>
        <p:xfrm>
          <a:off x="6766560" y="1691640"/>
          <a:ext cx="4873752" cy="3154680"/>
        </p:xfrm>
        <a:graphic xmlns:a="http://schemas.openxmlformats.org/drawingml/2006/main">
          <a:graphicData uri="http://schemas.openxmlformats.org/drawingml/2006/chart">
            <c:chart xmlns:c="http://schemas.openxmlformats.org/drawingml/2006/chart" r:id="rId1"/>
          </a:graphicData>
        </a:graphic>
      </p:graphicFrame>
      <p:sp>
        <p:nvSpPr>
          <p:cNvPr id="29" name="Carte total"/>
          <p:cNvSpPr/>
          <p:nvPr/>
        </p:nvSpPr>
        <p:spPr>
          <a:xfrm>
            <a:off x="6766560" y="5029200"/>
            <a:ext cx="4873752" cy="1170432"/>
          </a:xfrm>
          <a:prstGeom prst="roundRect">
            <a:avLst>
              <a:gd name="adj" fmla="val 6250"/>
            </a:avLst>
          </a:prstGeom>
          <a:solidFill>
            <a:schemeClr val="tx2"/>
          </a:solidFill>
          <a:ln/>
        </p:spPr>
      </p:sp>
      <p:sp>
        <p:nvSpPr>
          <p:cNvPr id="30" name="Total impact"/>
          <p:cNvSpPr txBox="1"/>
          <p:nvPr/>
        </p:nvSpPr>
        <p:spPr>
          <a:xfrm>
            <a:off x="7040880" y="5120640"/>
            <a:ext cx="4389120" cy="548640"/>
          </a:xfrm>
          <a:prstGeom prst="rect">
            <a:avLst/>
          </a:prstGeom>
          <a:noFill/>
          <a:ln/>
        </p:spPr>
        <p:txBody>
          <a:bodyPr wrap="square" lIns="0" tIns="0" rIns="0" bIns="0" rtlCol="0" anchor="ctr"/>
          <a:lstStyle/>
          <a:p>
            <a:pPr indent="0" marL="0">
              <a:buNone/>
            </a:pPr>
            <a:r>
              <a:rPr lang="en-US" sz="2600" b="1" dirty="0">
                <a:solidFill>
                  <a:schemeClr val="bg1"/>
                </a:solidFill>
              </a:rPr>
              <a:t>≈ +60 k UM par semestre</a:t>
            </a:r>
            <a:endParaRPr lang="en-US" sz="2600" dirty="0"/>
          </a:p>
        </p:txBody>
      </p:sp>
      <p:sp>
        <p:nvSpPr>
          <p:cNvPr id="31" name="Total impact détail"/>
          <p:cNvSpPr txBox="1"/>
          <p:nvPr/>
        </p:nvSpPr>
        <p:spPr>
          <a:xfrm>
            <a:off x="7040880" y="5687568"/>
            <a:ext cx="4389120" cy="365760"/>
          </a:xfrm>
          <a:prstGeom prst="rect">
            <a:avLst/>
          </a:prstGeom>
          <a:noFill/>
          <a:ln/>
        </p:spPr>
        <p:txBody>
          <a:bodyPr wrap="square" lIns="0" tIns="0" rIns="0" bIns="0" rtlCol="0" anchor="t"/>
          <a:lstStyle/>
          <a:p>
            <a:pPr indent="0" marL="0">
              <a:buNone/>
            </a:pPr>
            <a:r>
              <a:rPr lang="en-US" sz="1500" dirty="0">
                <a:solidFill>
                  <a:srgbClr val="CADCFC"/>
                </a:solidFill>
              </a:rPr>
              <a:t>+13 % de profit, soit ≈ 119 k UM par an</a:t>
            </a:r>
            <a:endParaRPr lang="en-US" sz="15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400" b="1" dirty="0">
                <a:solidFill>
                  <a:schemeClr val="tx2"/>
                </a:solidFill>
              </a:rPr>
              <a:t>Un plan en 90 jours : Douala et les retours Électronique d'abord</a:t>
            </a:r>
            <a:endParaRPr lang="en-US" sz="3400" dirty="0"/>
          </a:p>
        </p:txBody>
      </p:sp>
      <p:sp>
        <p:nvSpPr>
          <p:cNvPr id="3" name="Carte plan"/>
          <p:cNvSpPr/>
          <p:nvPr/>
        </p:nvSpPr>
        <p:spPr>
          <a:xfrm>
            <a:off x="548640" y="1783080"/>
            <a:ext cx="3593592" cy="4434840"/>
          </a:xfrm>
          <a:prstGeom prst="roundRect">
            <a:avLst>
              <a:gd name="adj" fmla="val 2036"/>
            </a:avLst>
          </a:prstGeom>
          <a:solidFill>
            <a:schemeClr val="bg2"/>
          </a:solidFill>
          <a:ln/>
        </p:spPr>
      </p:sp>
      <p:sp>
        <p:nvSpPr>
          <p:cNvPr id="4" name="Étiquette horizon"/>
          <p:cNvSpPr/>
          <p:nvPr/>
        </p:nvSpPr>
        <p:spPr>
          <a:xfrm>
            <a:off x="822960" y="2011680"/>
            <a:ext cx="1371600" cy="457200"/>
          </a:xfrm>
          <a:prstGeom prst="roundRect">
            <a:avLst>
              <a:gd name="adj" fmla="val 16000"/>
            </a:avLst>
          </a:prstGeom>
          <a:solidFill>
            <a:schemeClr val="accent1"/>
          </a:solidFill>
          <a:ln/>
        </p:spPr>
      </p:sp>
      <p:sp>
        <p:nvSpPr>
          <p:cNvPr id="5" name="Horizon"/>
          <p:cNvSpPr txBox="1"/>
          <p:nvPr/>
        </p:nvSpPr>
        <p:spPr>
          <a:xfrm>
            <a:off x="822960" y="2011680"/>
            <a:ext cx="1371600" cy="457200"/>
          </a:xfrm>
          <a:prstGeom prst="rect">
            <a:avLst/>
          </a:prstGeom>
          <a:noFill/>
          <a:ln/>
        </p:spPr>
        <p:txBody>
          <a:bodyPr wrap="square" lIns="0" tIns="0" rIns="0" bIns="0" rtlCol="0" anchor="ctr"/>
          <a:lstStyle/>
          <a:p>
            <a:pPr algn="ctr" indent="0" marL="0">
              <a:buNone/>
            </a:pPr>
            <a:r>
              <a:rPr lang="en-US" sz="1600" b="1" dirty="0">
                <a:solidFill>
                  <a:schemeClr val="bg1"/>
                </a:solidFill>
              </a:rPr>
              <a:t>30 jours</a:t>
            </a:r>
            <a:endParaRPr lang="en-US" sz="1600" dirty="0"/>
          </a:p>
        </p:txBody>
      </p:sp>
      <p:sp>
        <p:nvSpPr>
          <p:cNvPr id="6" name="Verbe horizon"/>
          <p:cNvSpPr txBox="1"/>
          <p:nvPr/>
        </p:nvSpPr>
        <p:spPr>
          <a:xfrm>
            <a:off x="822960" y="2651760"/>
            <a:ext cx="3044952" cy="457200"/>
          </a:xfrm>
          <a:prstGeom prst="rect">
            <a:avLst/>
          </a:prstGeom>
          <a:noFill/>
          <a:ln/>
        </p:spPr>
        <p:txBody>
          <a:bodyPr wrap="square" lIns="0" tIns="0" rIns="0" bIns="0" rtlCol="0" anchor="t"/>
          <a:lstStyle/>
          <a:p>
            <a:pPr indent="0" marL="0">
              <a:buNone/>
            </a:pPr>
            <a:r>
              <a:rPr lang="en-US" sz="2400" b="1" dirty="0">
                <a:solidFill>
                  <a:schemeClr val="tx2"/>
                </a:solidFill>
              </a:rPr>
              <a:t>Diagnostiquer</a:t>
            </a:r>
            <a:endParaRPr lang="en-US" sz="2400" dirty="0"/>
          </a:p>
        </p:txBody>
      </p:sp>
      <p:sp>
        <p:nvSpPr>
          <p:cNvPr id="7" name="Actions horizon"/>
          <p:cNvSpPr txBox="1"/>
          <p:nvPr/>
        </p:nvSpPr>
        <p:spPr>
          <a:xfrm>
            <a:off x="822960" y="3246120"/>
            <a:ext cx="3044952"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Audit opérationnel de Douala</a:t>
            </a:r>
            <a:endParaRPr lang="en-US" sz="1400" dirty="0"/>
          </a:p>
          <a:p>
            <a:pPr marL="342900" indent="-342900">
              <a:spcAft>
                <a:spcPts val="800"/>
              </a:spcAft>
              <a:buSzPct val="100000"/>
              <a:buChar char="•"/>
            </a:pPr>
            <a:r>
              <a:rPr lang="en-US" sz="1400" dirty="0">
                <a:solidFill>
                  <a:schemeClr val="tx1"/>
                </a:solidFill>
              </a:rPr>
              <a:t>Revue qualité des produits Électronique les plus retournés</a:t>
            </a:r>
            <a:endParaRPr lang="en-US" sz="1400" dirty="0"/>
          </a:p>
          <a:p>
            <a:pPr marL="342900" indent="-342900">
              <a:spcAft>
                <a:spcPts val="800"/>
              </a:spcAft>
              <a:buSzPct val="100000"/>
              <a:buChar char="•"/>
            </a:pPr>
            <a:r>
              <a:rPr lang="en-US" sz="1400" dirty="0">
                <a:solidFill>
                  <a:schemeClr val="tx1"/>
                </a:solidFill>
              </a:rPr>
              <a:t>Tableau de bord hebdomadaire : annulations, retours, ROI par canal</a:t>
            </a:r>
            <a:endParaRPr lang="en-US" sz="1400" dirty="0"/>
          </a:p>
        </p:txBody>
      </p:sp>
      <p:sp>
        <p:nvSpPr>
          <p:cNvPr id="8" name="Pilotes horizon"/>
          <p:cNvSpPr txBox="1"/>
          <p:nvPr/>
        </p:nvSpPr>
        <p:spPr>
          <a:xfrm>
            <a:off x="822960" y="5669280"/>
            <a:ext cx="3044952" cy="365760"/>
          </a:xfrm>
          <a:prstGeom prst="rect">
            <a:avLst/>
          </a:prstGeom>
          <a:noFill/>
          <a:ln/>
        </p:spPr>
        <p:txBody>
          <a:bodyPr wrap="square" lIns="0" tIns="0" rIns="0" bIns="0" rtlCol="0" anchor="t"/>
          <a:lstStyle/>
          <a:p>
            <a:pPr indent="0" marL="0">
              <a:buNone/>
            </a:pPr>
            <a:r>
              <a:rPr lang="en-US" sz="1300" b="1" dirty="0">
                <a:solidFill>
                  <a:srgbClr val="5B6670"/>
                </a:solidFill>
              </a:rPr>
              <a:t>Opérations · Qualité · Data</a:t>
            </a:r>
            <a:endParaRPr lang="en-US" sz="1300" dirty="0"/>
          </a:p>
        </p:txBody>
      </p:sp>
      <p:sp>
        <p:nvSpPr>
          <p:cNvPr id="9" name="Carte plan"/>
          <p:cNvSpPr/>
          <p:nvPr/>
        </p:nvSpPr>
        <p:spPr>
          <a:xfrm>
            <a:off x="4297680" y="1783080"/>
            <a:ext cx="3593592" cy="4434840"/>
          </a:xfrm>
          <a:prstGeom prst="roundRect">
            <a:avLst>
              <a:gd name="adj" fmla="val 2036"/>
            </a:avLst>
          </a:prstGeom>
          <a:solidFill>
            <a:schemeClr val="bg2"/>
          </a:solidFill>
          <a:ln/>
        </p:spPr>
      </p:sp>
      <p:sp>
        <p:nvSpPr>
          <p:cNvPr id="10" name="Étiquette horizon"/>
          <p:cNvSpPr/>
          <p:nvPr/>
        </p:nvSpPr>
        <p:spPr>
          <a:xfrm>
            <a:off x="4572000" y="2011680"/>
            <a:ext cx="1371600" cy="457200"/>
          </a:xfrm>
          <a:prstGeom prst="roundRect">
            <a:avLst>
              <a:gd name="adj" fmla="val 16000"/>
            </a:avLst>
          </a:prstGeom>
          <a:solidFill>
            <a:schemeClr val="accent1"/>
          </a:solidFill>
          <a:ln/>
        </p:spPr>
      </p:sp>
      <p:sp>
        <p:nvSpPr>
          <p:cNvPr id="11" name="Horizon"/>
          <p:cNvSpPr txBox="1"/>
          <p:nvPr/>
        </p:nvSpPr>
        <p:spPr>
          <a:xfrm>
            <a:off x="4572000" y="2011680"/>
            <a:ext cx="1371600" cy="457200"/>
          </a:xfrm>
          <a:prstGeom prst="rect">
            <a:avLst/>
          </a:prstGeom>
          <a:noFill/>
          <a:ln/>
        </p:spPr>
        <p:txBody>
          <a:bodyPr wrap="square" lIns="0" tIns="0" rIns="0" bIns="0" rtlCol="0" anchor="ctr"/>
          <a:lstStyle/>
          <a:p>
            <a:pPr algn="ctr" indent="0" marL="0">
              <a:buNone/>
            </a:pPr>
            <a:r>
              <a:rPr lang="en-US" sz="1600" b="1" dirty="0">
                <a:solidFill>
                  <a:schemeClr val="bg1"/>
                </a:solidFill>
              </a:rPr>
              <a:t>60 jours</a:t>
            </a:r>
            <a:endParaRPr lang="en-US" sz="1600" dirty="0"/>
          </a:p>
        </p:txBody>
      </p:sp>
      <p:sp>
        <p:nvSpPr>
          <p:cNvPr id="12" name="Verbe horizon"/>
          <p:cNvSpPr txBox="1"/>
          <p:nvPr/>
        </p:nvSpPr>
        <p:spPr>
          <a:xfrm>
            <a:off x="4572000" y="2651760"/>
            <a:ext cx="3044952" cy="457200"/>
          </a:xfrm>
          <a:prstGeom prst="rect">
            <a:avLst/>
          </a:prstGeom>
          <a:noFill/>
          <a:ln/>
        </p:spPr>
        <p:txBody>
          <a:bodyPr wrap="square" lIns="0" tIns="0" rIns="0" bIns="0" rtlCol="0" anchor="t"/>
          <a:lstStyle/>
          <a:p>
            <a:pPr indent="0" marL="0">
              <a:buNone/>
            </a:pPr>
            <a:r>
              <a:rPr lang="en-US" sz="2400" b="1" dirty="0">
                <a:solidFill>
                  <a:schemeClr val="tx2"/>
                </a:solidFill>
              </a:rPr>
              <a:t>Tester</a:t>
            </a:r>
            <a:endParaRPr lang="en-US" sz="2400" dirty="0"/>
          </a:p>
        </p:txBody>
      </p:sp>
      <p:sp>
        <p:nvSpPr>
          <p:cNvPr id="13" name="Actions horizon"/>
          <p:cNvSpPr txBox="1"/>
          <p:nvPr/>
        </p:nvSpPr>
        <p:spPr>
          <a:xfrm>
            <a:off x="4572000" y="3246120"/>
            <a:ext cx="3044952"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Premier palier : −10 % d'Instagram vers Google Ads, mesure du rendement</a:t>
            </a:r>
            <a:endParaRPr lang="en-US" sz="1400" dirty="0"/>
          </a:p>
          <a:p>
            <a:pPr marL="342900" indent="-342900">
              <a:spcAft>
                <a:spcPts val="800"/>
              </a:spcAft>
              <a:buSzPct val="100000"/>
              <a:buChar char="•"/>
            </a:pPr>
            <a:r>
              <a:rPr lang="en-US" sz="1400" dirty="0">
                <a:solidFill>
                  <a:schemeClr val="tx1"/>
                </a:solidFill>
              </a:rPr>
              <a:t>Relances 2ᵉ achat et réactivation des clients à risque</a:t>
            </a:r>
            <a:endParaRPr lang="en-US" sz="1400" dirty="0"/>
          </a:p>
        </p:txBody>
      </p:sp>
      <p:sp>
        <p:nvSpPr>
          <p:cNvPr id="14" name="Pilotes horizon"/>
          <p:cNvSpPr txBox="1"/>
          <p:nvPr/>
        </p:nvSpPr>
        <p:spPr>
          <a:xfrm>
            <a:off x="4572000" y="5669280"/>
            <a:ext cx="3044952" cy="365760"/>
          </a:xfrm>
          <a:prstGeom prst="rect">
            <a:avLst/>
          </a:prstGeom>
          <a:noFill/>
          <a:ln/>
        </p:spPr>
        <p:txBody>
          <a:bodyPr wrap="square" lIns="0" tIns="0" rIns="0" bIns="0" rtlCol="0" anchor="t"/>
          <a:lstStyle/>
          <a:p>
            <a:pPr indent="0" marL="0">
              <a:buNone/>
            </a:pPr>
            <a:r>
              <a:rPr lang="en-US" sz="1300" b="1" dirty="0">
                <a:solidFill>
                  <a:srgbClr val="5B6670"/>
                </a:solidFill>
              </a:rPr>
              <a:t>Marketing · CRM</a:t>
            </a:r>
            <a:endParaRPr lang="en-US" sz="1300" dirty="0"/>
          </a:p>
        </p:txBody>
      </p:sp>
      <p:sp>
        <p:nvSpPr>
          <p:cNvPr id="15" name="Carte plan"/>
          <p:cNvSpPr/>
          <p:nvPr/>
        </p:nvSpPr>
        <p:spPr>
          <a:xfrm>
            <a:off x="8046720" y="1783080"/>
            <a:ext cx="3593592" cy="4434840"/>
          </a:xfrm>
          <a:prstGeom prst="roundRect">
            <a:avLst>
              <a:gd name="adj" fmla="val 2036"/>
            </a:avLst>
          </a:prstGeom>
          <a:solidFill>
            <a:schemeClr val="bg2"/>
          </a:solidFill>
          <a:ln/>
        </p:spPr>
      </p:sp>
      <p:sp>
        <p:nvSpPr>
          <p:cNvPr id="16" name="Étiquette horizon"/>
          <p:cNvSpPr/>
          <p:nvPr/>
        </p:nvSpPr>
        <p:spPr>
          <a:xfrm>
            <a:off x="8321040" y="2011680"/>
            <a:ext cx="1371600" cy="457200"/>
          </a:xfrm>
          <a:prstGeom prst="roundRect">
            <a:avLst>
              <a:gd name="adj" fmla="val 16000"/>
            </a:avLst>
          </a:prstGeom>
          <a:solidFill>
            <a:schemeClr val="accent1"/>
          </a:solidFill>
          <a:ln/>
        </p:spPr>
      </p:sp>
      <p:sp>
        <p:nvSpPr>
          <p:cNvPr id="17" name="Horizon"/>
          <p:cNvSpPr txBox="1"/>
          <p:nvPr/>
        </p:nvSpPr>
        <p:spPr>
          <a:xfrm>
            <a:off x="8321040" y="2011680"/>
            <a:ext cx="1371600" cy="457200"/>
          </a:xfrm>
          <a:prstGeom prst="rect">
            <a:avLst/>
          </a:prstGeom>
          <a:noFill/>
          <a:ln/>
        </p:spPr>
        <p:txBody>
          <a:bodyPr wrap="square" lIns="0" tIns="0" rIns="0" bIns="0" rtlCol="0" anchor="ctr"/>
          <a:lstStyle/>
          <a:p>
            <a:pPr algn="ctr" indent="0" marL="0">
              <a:buNone/>
            </a:pPr>
            <a:r>
              <a:rPr lang="en-US" sz="1600" b="1" dirty="0">
                <a:solidFill>
                  <a:schemeClr val="bg1"/>
                </a:solidFill>
              </a:rPr>
              <a:t>90 jours</a:t>
            </a:r>
            <a:endParaRPr lang="en-US" sz="1600" dirty="0"/>
          </a:p>
        </p:txBody>
      </p:sp>
      <p:sp>
        <p:nvSpPr>
          <p:cNvPr id="18" name="Verbe horizon"/>
          <p:cNvSpPr txBox="1"/>
          <p:nvPr/>
        </p:nvSpPr>
        <p:spPr>
          <a:xfrm>
            <a:off x="8321040" y="2651760"/>
            <a:ext cx="3044952" cy="457200"/>
          </a:xfrm>
          <a:prstGeom prst="rect">
            <a:avLst/>
          </a:prstGeom>
          <a:noFill/>
          <a:ln/>
        </p:spPr>
        <p:txBody>
          <a:bodyPr wrap="square" lIns="0" tIns="0" rIns="0" bIns="0" rtlCol="0" anchor="t"/>
          <a:lstStyle/>
          <a:p>
            <a:pPr indent="0" marL="0">
              <a:buNone/>
            </a:pPr>
            <a:r>
              <a:rPr lang="en-US" sz="2400" b="1" dirty="0">
                <a:solidFill>
                  <a:schemeClr val="tx2"/>
                </a:solidFill>
              </a:rPr>
              <a:t>Déployer</a:t>
            </a:r>
            <a:endParaRPr lang="en-US" sz="2400" dirty="0"/>
          </a:p>
        </p:txBody>
      </p:sp>
      <p:sp>
        <p:nvSpPr>
          <p:cNvPr id="19" name="Actions horizon"/>
          <p:cNvSpPr txBox="1"/>
          <p:nvPr/>
        </p:nvSpPr>
        <p:spPr>
          <a:xfrm>
            <a:off x="8321040" y="3246120"/>
            <a:ext cx="3044952"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Programme VIP et ventes croisées Maison</a:t>
            </a:r>
            <a:endParaRPr lang="en-US" sz="1400" dirty="0"/>
          </a:p>
          <a:p>
            <a:pPr marL="342900" indent="-342900">
              <a:spcAft>
                <a:spcPts val="800"/>
              </a:spcAft>
              <a:buSzPct val="100000"/>
              <a:buChar char="•"/>
            </a:pPr>
            <a:r>
              <a:rPr lang="en-US" sz="1400" dirty="0">
                <a:solidFill>
                  <a:schemeClr val="tx1"/>
                </a:solidFill>
              </a:rPr>
              <a:t>Plan de stock Maison pour le prochain pic</a:t>
            </a:r>
            <a:endParaRPr lang="en-US" sz="1400" dirty="0"/>
          </a:p>
          <a:p>
            <a:pPr marL="342900" indent="-342900">
              <a:spcAft>
                <a:spcPts val="800"/>
              </a:spcAft>
              <a:buSzPct val="100000"/>
              <a:buChar char="•"/>
            </a:pPr>
            <a:r>
              <a:rPr lang="en-US" sz="1400" dirty="0">
                <a:solidFill>
                  <a:schemeClr val="tx1"/>
                </a:solidFill>
              </a:rPr>
              <a:t>Décision sur le palier de réallocation suivant</a:t>
            </a:r>
            <a:endParaRPr lang="en-US" sz="1400" dirty="0"/>
          </a:p>
        </p:txBody>
      </p:sp>
      <p:sp>
        <p:nvSpPr>
          <p:cNvPr id="20" name="Pilotes horizon"/>
          <p:cNvSpPr txBox="1"/>
          <p:nvPr/>
        </p:nvSpPr>
        <p:spPr>
          <a:xfrm>
            <a:off x="8321040" y="5669280"/>
            <a:ext cx="3044952" cy="365760"/>
          </a:xfrm>
          <a:prstGeom prst="rect">
            <a:avLst/>
          </a:prstGeom>
          <a:noFill/>
          <a:ln/>
        </p:spPr>
        <p:txBody>
          <a:bodyPr wrap="square" lIns="0" tIns="0" rIns="0" bIns="0" rtlCol="0" anchor="t"/>
          <a:lstStyle/>
          <a:p>
            <a:pPr indent="0" marL="0">
              <a:buNone/>
            </a:pPr>
            <a:r>
              <a:rPr lang="en-US" sz="1300" b="1" dirty="0">
                <a:solidFill>
                  <a:srgbClr val="5B6670"/>
                </a:solidFill>
              </a:rPr>
              <a:t>Direction commerciale</a:t>
            </a:r>
            <a:endParaRPr lang="en-US" sz="13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1097280"/>
          </a:xfrm>
          <a:prstGeom prst="rect">
            <a:avLst/>
          </a:prstGeom>
          <a:noFill/>
          <a:ln/>
        </p:spPr>
        <p:txBody>
          <a:bodyPr wrap="square" lIns="0" tIns="0" rIns="0" bIns="0" rtlCol="0" anchor="t"/>
          <a:lstStyle/>
          <a:p>
            <a:pPr algn="l" indent="0" marL="0">
              <a:buNone/>
            </a:pPr>
            <a:r>
              <a:rPr lang="en-US" sz="4000" b="1" dirty="0">
                <a:solidFill>
                  <a:schemeClr val="bg1"/>
                </a:solidFill>
              </a:rPr>
              <a:t>Trois décisions pour aujourd'hui</a:t>
            </a:r>
            <a:endParaRPr lang="en-US" sz="4000" dirty="0"/>
          </a:p>
        </p:txBody>
      </p:sp>
      <p:sp>
        <p:nvSpPr>
          <p:cNvPr id="3" name="Carte décision"/>
          <p:cNvSpPr/>
          <p:nvPr/>
        </p:nvSpPr>
        <p:spPr>
          <a:xfrm>
            <a:off x="548640" y="1828800"/>
            <a:ext cx="11094415" cy="1188720"/>
          </a:xfrm>
          <a:prstGeom prst="roundRect">
            <a:avLst>
              <a:gd name="adj" fmla="val 6154"/>
            </a:avLst>
          </a:prstGeom>
          <a:solidFill>
            <a:schemeClr val="accent1"/>
          </a:solidFill>
          <a:ln/>
        </p:spPr>
      </p:sp>
      <p:sp>
        <p:nvSpPr>
          <p:cNvPr id="4" name="Pastille Mandater l'audit opérationnel de Douala"/>
          <p:cNvSpPr/>
          <p:nvPr/>
        </p:nvSpPr>
        <p:spPr>
          <a:xfrm>
            <a:off x="822960" y="2103120"/>
            <a:ext cx="640080" cy="640080"/>
          </a:xfrm>
          <a:prstGeom prst="ellipse">
            <a:avLst/>
          </a:prstGeom>
          <a:solidFill>
            <a:schemeClr val="tx2"/>
          </a:solidFill>
          <a:ln/>
        </p:spPr>
      </p:sp>
      <p:pic>
        <p:nvPicPr>
          <p:cNvPr id="5" name="Icône Mandater l'audit opérationnel de Douala" descr="Mandater l'audit opérationnel de Douala">    </p:cNvPr>
          <p:cNvPicPr>
            <a:picLocks noChangeAspect="1"/>
          </p:cNvPicPr>
          <p:nvPr/>
        </p:nvPicPr>
        <p:blipFill>
          <a:blip r:embed="rId1"/>
          <a:stretch>
            <a:fillRect/>
          </a:stretch>
        </p:blipFill>
        <p:spPr>
          <a:xfrm>
            <a:off x="982980" y="2263140"/>
            <a:ext cx="320040" cy="320040"/>
          </a:xfrm>
          <a:prstGeom prst="rect">
            <a:avLst/>
          </a:prstGeom>
        </p:spPr>
      </p:pic>
      <p:sp>
        <p:nvSpPr>
          <p:cNvPr id="6" name="Titre décision"/>
          <p:cNvSpPr txBox="1"/>
          <p:nvPr/>
        </p:nvSpPr>
        <p:spPr>
          <a:xfrm>
            <a:off x="1737360" y="1984248"/>
            <a:ext cx="9631375" cy="548640"/>
          </a:xfrm>
          <a:prstGeom prst="rect">
            <a:avLst/>
          </a:prstGeom>
          <a:noFill/>
          <a:ln/>
        </p:spPr>
        <p:txBody>
          <a:bodyPr wrap="square" lIns="0" tIns="0" rIns="0" bIns="0" rtlCol="0" anchor="ctr"/>
          <a:lstStyle/>
          <a:p>
            <a:pPr indent="0" marL="0">
              <a:buNone/>
            </a:pPr>
            <a:r>
              <a:rPr lang="en-US" sz="2200" b="1" dirty="0">
                <a:solidFill>
                  <a:schemeClr val="bg1"/>
                </a:solidFill>
              </a:rPr>
              <a:t>Mandater l'audit opérationnel de Douala</a:t>
            </a:r>
            <a:endParaRPr lang="en-US" sz="2200" dirty="0"/>
          </a:p>
        </p:txBody>
      </p:sp>
      <p:sp>
        <p:nvSpPr>
          <p:cNvPr id="7" name="Détail décision"/>
          <p:cNvSpPr txBox="1"/>
          <p:nvPr/>
        </p:nvSpPr>
        <p:spPr>
          <a:xfrm>
            <a:off x="1737360" y="2560320"/>
            <a:ext cx="9631375" cy="365760"/>
          </a:xfrm>
          <a:prstGeom prst="rect">
            <a:avLst/>
          </a:prstGeom>
          <a:noFill/>
          <a:ln/>
        </p:spPr>
        <p:txBody>
          <a:bodyPr wrap="square" lIns="0" tIns="0" rIns="0" bIns="0" rtlCol="0" anchor="t"/>
          <a:lstStyle/>
          <a:p>
            <a:pPr indent="0" marL="0">
              <a:buNone/>
            </a:pPr>
            <a:r>
              <a:rPr lang="en-US" sz="1500" dirty="0">
                <a:solidFill>
                  <a:srgbClr val="CADCFC"/>
                </a:solidFill>
              </a:rPr>
              <a:t>Objectif : annulations sous 3 % à 90 jours</a:t>
            </a:r>
            <a:endParaRPr lang="en-US" sz="1500" dirty="0"/>
          </a:p>
        </p:txBody>
      </p:sp>
      <p:sp>
        <p:nvSpPr>
          <p:cNvPr id="8" name="Carte décision"/>
          <p:cNvSpPr/>
          <p:nvPr/>
        </p:nvSpPr>
        <p:spPr>
          <a:xfrm>
            <a:off x="548640" y="3200400"/>
            <a:ext cx="11094415" cy="1188720"/>
          </a:xfrm>
          <a:prstGeom prst="roundRect">
            <a:avLst>
              <a:gd name="adj" fmla="val 6154"/>
            </a:avLst>
          </a:prstGeom>
          <a:solidFill>
            <a:schemeClr val="accent1"/>
          </a:solidFill>
          <a:ln/>
        </p:spPr>
      </p:sp>
      <p:sp>
        <p:nvSpPr>
          <p:cNvPr id="9" name="Pastille Lancer le plan qualité Électronique"/>
          <p:cNvSpPr/>
          <p:nvPr/>
        </p:nvSpPr>
        <p:spPr>
          <a:xfrm>
            <a:off x="822960" y="3474720"/>
            <a:ext cx="640080" cy="640080"/>
          </a:xfrm>
          <a:prstGeom prst="ellipse">
            <a:avLst/>
          </a:prstGeom>
          <a:solidFill>
            <a:schemeClr val="tx2"/>
          </a:solidFill>
          <a:ln/>
        </p:spPr>
      </p:sp>
      <p:pic>
        <p:nvPicPr>
          <p:cNvPr id="10" name="Icône Lancer le plan qualité Électronique" descr="Lancer le plan qualité Électronique">    </p:cNvPr>
          <p:cNvPicPr>
            <a:picLocks noChangeAspect="1"/>
          </p:cNvPicPr>
          <p:nvPr/>
        </p:nvPicPr>
        <p:blipFill>
          <a:blip r:embed="rId2"/>
          <a:stretch>
            <a:fillRect/>
          </a:stretch>
        </p:blipFill>
        <p:spPr>
          <a:xfrm>
            <a:off x="982980" y="3634740"/>
            <a:ext cx="320040" cy="320040"/>
          </a:xfrm>
          <a:prstGeom prst="rect">
            <a:avLst/>
          </a:prstGeom>
        </p:spPr>
      </p:pic>
      <p:sp>
        <p:nvSpPr>
          <p:cNvPr id="11" name="Titre décision"/>
          <p:cNvSpPr txBox="1"/>
          <p:nvPr/>
        </p:nvSpPr>
        <p:spPr>
          <a:xfrm>
            <a:off x="1737360" y="3355848"/>
            <a:ext cx="9631375" cy="548640"/>
          </a:xfrm>
          <a:prstGeom prst="rect">
            <a:avLst/>
          </a:prstGeom>
          <a:noFill/>
          <a:ln/>
        </p:spPr>
        <p:txBody>
          <a:bodyPr wrap="square" lIns="0" tIns="0" rIns="0" bIns="0" rtlCol="0" anchor="ctr"/>
          <a:lstStyle/>
          <a:p>
            <a:pPr indent="0" marL="0">
              <a:buNone/>
            </a:pPr>
            <a:r>
              <a:rPr lang="en-US" sz="2200" b="1" dirty="0">
                <a:solidFill>
                  <a:schemeClr val="bg1"/>
                </a:solidFill>
              </a:rPr>
              <a:t>Lancer le plan qualité Électronique</a:t>
            </a:r>
            <a:endParaRPr lang="en-US" sz="2200" dirty="0"/>
          </a:p>
        </p:txBody>
      </p:sp>
      <p:sp>
        <p:nvSpPr>
          <p:cNvPr id="12" name="Détail décision"/>
          <p:cNvSpPr txBox="1"/>
          <p:nvPr/>
        </p:nvSpPr>
        <p:spPr>
          <a:xfrm>
            <a:off x="1737360" y="3931920"/>
            <a:ext cx="9631375" cy="365760"/>
          </a:xfrm>
          <a:prstGeom prst="rect">
            <a:avLst/>
          </a:prstGeom>
          <a:noFill/>
          <a:ln/>
        </p:spPr>
        <p:txBody>
          <a:bodyPr wrap="square" lIns="0" tIns="0" rIns="0" bIns="0" rtlCol="0" anchor="t"/>
          <a:lstStyle/>
          <a:p>
            <a:pPr indent="0" marL="0">
              <a:buNone/>
            </a:pPr>
            <a:r>
              <a:rPr lang="en-US" sz="1500" dirty="0">
                <a:solidFill>
                  <a:srgbClr val="CADCFC"/>
                </a:solidFill>
              </a:rPr>
              <a:t>Objectif : retours de 15,6 % à 10 % en 6 mois</a:t>
            </a:r>
            <a:endParaRPr lang="en-US" sz="1500" dirty="0"/>
          </a:p>
        </p:txBody>
      </p:sp>
      <p:sp>
        <p:nvSpPr>
          <p:cNvPr id="13" name="Carte décision"/>
          <p:cNvSpPr/>
          <p:nvPr/>
        </p:nvSpPr>
        <p:spPr>
          <a:xfrm>
            <a:off x="548640" y="4572000"/>
            <a:ext cx="11094415" cy="1188720"/>
          </a:xfrm>
          <a:prstGeom prst="roundRect">
            <a:avLst>
              <a:gd name="adj" fmla="val 6154"/>
            </a:avLst>
          </a:prstGeom>
          <a:solidFill>
            <a:schemeClr val="accent1"/>
          </a:solidFill>
          <a:ln/>
        </p:spPr>
      </p:sp>
      <p:sp>
        <p:nvSpPr>
          <p:cNvPr id="14" name="Pastille Autoriser le premier palier de réallocation marketing et le programme de rétention"/>
          <p:cNvSpPr/>
          <p:nvPr/>
        </p:nvSpPr>
        <p:spPr>
          <a:xfrm>
            <a:off x="822960" y="4846320"/>
            <a:ext cx="640080" cy="640080"/>
          </a:xfrm>
          <a:prstGeom prst="ellipse">
            <a:avLst/>
          </a:prstGeom>
          <a:solidFill>
            <a:schemeClr val="tx2"/>
          </a:solidFill>
          <a:ln/>
        </p:spPr>
      </p:sp>
      <p:pic>
        <p:nvPicPr>
          <p:cNvPr id="15" name="Icône Autoriser le premier palier de réallocation marketing et le programme de rétention" descr="Autoriser le premier palier de réallocation marketing et le programme de rétention">    </p:cNvPr>
          <p:cNvPicPr>
            <a:picLocks noChangeAspect="1"/>
          </p:cNvPicPr>
          <p:nvPr/>
        </p:nvPicPr>
        <p:blipFill>
          <a:blip r:embed="rId3"/>
          <a:stretch>
            <a:fillRect/>
          </a:stretch>
        </p:blipFill>
        <p:spPr>
          <a:xfrm>
            <a:off x="982980" y="5006340"/>
            <a:ext cx="320040" cy="320040"/>
          </a:xfrm>
          <a:prstGeom prst="rect">
            <a:avLst/>
          </a:prstGeom>
        </p:spPr>
      </p:pic>
      <p:sp>
        <p:nvSpPr>
          <p:cNvPr id="16" name="Titre décision"/>
          <p:cNvSpPr txBox="1"/>
          <p:nvPr/>
        </p:nvSpPr>
        <p:spPr>
          <a:xfrm>
            <a:off x="1737360" y="4727448"/>
            <a:ext cx="9631375" cy="548640"/>
          </a:xfrm>
          <a:prstGeom prst="rect">
            <a:avLst/>
          </a:prstGeom>
          <a:noFill/>
          <a:ln/>
        </p:spPr>
        <p:txBody>
          <a:bodyPr wrap="square" lIns="0" tIns="0" rIns="0" bIns="0" rtlCol="0" anchor="ctr"/>
          <a:lstStyle/>
          <a:p>
            <a:pPr indent="0" marL="0">
              <a:buNone/>
            </a:pPr>
            <a:r>
              <a:rPr lang="en-US" sz="2200" b="1" dirty="0">
                <a:solidFill>
                  <a:schemeClr val="bg1"/>
                </a:solidFill>
              </a:rPr>
              <a:t>Autoriser le premier palier de réallocation marketing et le programme de rétention</a:t>
            </a:r>
            <a:endParaRPr lang="en-US" sz="2200" dirty="0"/>
          </a:p>
        </p:txBody>
      </p:sp>
      <p:sp>
        <p:nvSpPr>
          <p:cNvPr id="17" name="Détail décision"/>
          <p:cNvSpPr txBox="1"/>
          <p:nvPr/>
        </p:nvSpPr>
        <p:spPr>
          <a:xfrm>
            <a:off x="1737360" y="5303520"/>
            <a:ext cx="9631375" cy="365760"/>
          </a:xfrm>
          <a:prstGeom prst="rect">
            <a:avLst/>
          </a:prstGeom>
          <a:noFill/>
          <a:ln/>
        </p:spPr>
        <p:txBody>
          <a:bodyPr wrap="square" lIns="0" tIns="0" rIns="0" bIns="0" rtlCol="0" anchor="t"/>
          <a:lstStyle/>
          <a:p>
            <a:pPr indent="0" marL="0">
              <a:buNone/>
            </a:pPr>
            <a:r>
              <a:rPr lang="en-US" sz="1500" dirty="0">
                <a:solidFill>
                  <a:srgbClr val="CADCFC"/>
                </a:solidFill>
              </a:rPr>
              <a:t>Palier de 10 %, mesuré avant de poursuivre</a:t>
            </a:r>
            <a:endParaRPr lang="en-US" sz="1500" dirty="0"/>
          </a:p>
        </p:txBody>
      </p:sp>
      <p:sp>
        <p:nvSpPr>
          <p:cNvPr id="18" name="Gain attendu"/>
          <p:cNvSpPr txBox="1"/>
          <p:nvPr/>
        </p:nvSpPr>
        <p:spPr>
          <a:xfrm>
            <a:off x="548640" y="5989320"/>
            <a:ext cx="11094415" cy="457200"/>
          </a:xfrm>
          <a:prstGeom prst="rect">
            <a:avLst/>
          </a:prstGeom>
          <a:noFill/>
          <a:ln/>
        </p:spPr>
        <p:txBody>
          <a:bodyPr wrap="square" lIns="0" tIns="0" rIns="0" bIns="0" rtlCol="0" anchor="t"/>
          <a:lstStyle/>
          <a:p>
            <a:pPr indent="0" marL="0">
              <a:buNone/>
            </a:pPr>
            <a:r>
              <a:rPr lang="en-US" sz="1800" b="1" dirty="0">
                <a:solidFill>
                  <a:schemeClr val="bg1"/>
                </a:solidFill>
              </a:rPr>
              <a:t>Gain attendu : ≈ +60 k UM de profit par semestre (+13 %), sans augmenter le budget total.</a:t>
            </a:r>
            <a:endParaRPr lang="en-US" sz="1800" dirty="0"/>
          </a:p>
        </p:txBody>
      </p:sp>
    </p:spTree>
  </p:cSld>
  <p:clrMapOvr>
    <a:masterClrMapping/>
  </p:clrMapOvr>
</p:sld>
</file>

<file path=ppt/theme/theme1.xml><?xml version="1.0" encoding="utf-8"?>
<a:theme xmlns:a="http://schemas.openxmlformats.org/drawingml/2006/main" name="AfriMarket">
  <a:themeElements>
    <a:clrScheme name="AfriMarket">
      <a:dk1>
        <a:srgbClr val="1F2933"/>
      </a:dk1>
      <a:lt1>
        <a:srgbClr val="FFFFFF"/>
      </a:lt1>
      <a:dk2>
        <a:srgbClr val="0F2742"/>
      </a:dk2>
      <a:lt2>
        <a:srgbClr val="F1F5F9"/>
      </a:lt2>
      <a:accent1>
        <a:srgbClr val="1F4E8C"/>
      </a:accent1>
      <a:accent2>
        <a:srgbClr val="2A78D6"/>
      </a:accent2>
      <a:accent3>
        <a:srgbClr val="EB6834"/>
      </a:accent3>
      <a:accent4>
        <a:srgbClr val="1BAF7A"/>
      </a:accent4>
      <a:accent5>
        <a:srgbClr val="EDA100"/>
      </a:accent5>
      <a:accent6>
        <a:srgbClr val="B42318"/>
      </a:accent6>
      <a:hlink>
        <a:srgbClr val="1F4E8C"/>
      </a:hlink>
      <a:folHlink>
        <a:srgbClr val="5B6670"/>
      </a:folHlink>
    </a:clrScheme>
    <a:fontScheme name="AfriMarke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AfriMarket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AfriMarket - Présentation à la Direction générale</dc:title>
  <dc:subject>Analyse de l'activité juillet - décembre 2025</dc:subject>
  <dc:creator>Data Analyst</dc:creator>
  <cp:lastModifiedBy>Data Analyst</cp:lastModifiedBy>
  <cp:revision>1</cp:revision>
  <dcterms:created xsi:type="dcterms:W3CDTF">2026-10-10T02:12:12Z</dcterms:created>
  <dcterms:modified xsi:type="dcterms:W3CDTF">2026-10-10T02:12:12Z</dcterms:modified>
</cp:coreProperties>
</file>